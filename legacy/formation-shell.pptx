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78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304" r:id="rId22"/>
    <p:sldId id="305" r:id="rId23"/>
    <p:sldId id="319" r:id="rId24"/>
    <p:sldId id="321" r:id="rId25"/>
    <p:sldId id="322" r:id="rId26"/>
    <p:sldId id="318" r:id="rId27"/>
    <p:sldId id="323" r:id="rId28"/>
    <p:sldId id="324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313" r:id="rId50"/>
    <p:sldId id="298" r:id="rId51"/>
    <p:sldId id="299" r:id="rId52"/>
    <p:sldId id="300" r:id="rId53"/>
    <p:sldId id="301" r:id="rId54"/>
    <p:sldId id="302" r:id="rId55"/>
    <p:sldId id="303" r:id="rId56"/>
    <p:sldId id="307" r:id="rId57"/>
    <p:sldId id="306" r:id="rId58"/>
    <p:sldId id="308" r:id="rId59"/>
    <p:sldId id="309" r:id="rId60"/>
    <p:sldId id="310" r:id="rId61"/>
    <p:sldId id="311" r:id="rId62"/>
    <p:sldId id="312" r:id="rId63"/>
    <p:sldId id="314" r:id="rId64"/>
    <p:sldId id="315" r:id="rId65"/>
    <p:sldId id="317" r:id="rId66"/>
    <p:sldId id="316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4" r:id="rId76"/>
    <p:sldId id="335" r:id="rId7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c3ca6b17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c3ca6b17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3ca6b178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3ca6b178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3ca6b178_1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3ca6b178_1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3ca6b17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3ca6b17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3ca6b178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3ca6b178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3ca6b178_3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3ca6b178_3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3ca6b178_3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3ca6b178_3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3ca6b178_3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3ca6b178_3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3ca6b178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3ca6b178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3ca6b178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3ca6b178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3ca6b178_3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3ca6b178_3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3ca6b178_3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3ca6b178_3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3ca6b178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3ca6b178_3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3ca6b178_3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3ca6b178_3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3ca6b178_3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3ca6b178_3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3ca6b178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c3ca6b178_3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3ca6b178_3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c3ca6b178_3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c3ca6b178_3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c3ca6b178_3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c3da2b65a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c3da2b65a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c3ca6b178_3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c3ca6b178_3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c3ca6b178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c3ca6b178_3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c3da2b6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c3da2b6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c3ca6b178_3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c3ca6b178_3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c3ca6b178_3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c3ca6b178_3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c3ca6b178_3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c3ca6b178_3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c3ca6b178_3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c3ca6b178_3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c3da2b65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c3da2b65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c3ca6b178_3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c3ca6b178_3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c3ca6b178_3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c3ca6b178_3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3ca6b178_3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3ca6b178_3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c3ca6b178_3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c3ca6b178_3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3ca6b178_3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c3ca6b178_3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c3ca6b178_3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c3ca6b178_3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c3ca6b178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c3ca6b178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3ca6b178_3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c3ca6b178_3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c3ca6b178_3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c3ca6b178_3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c3ca6b178_3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c3ca6b178_3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c3ca6b178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c3ca6b178_3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c3ca6b178_3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c3ca6b178_3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c3ca6b178_3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c3ca6b178_3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c3ca6b178_3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c3ca6b178_3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c3ca6b178_3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c3ca6b178_3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c3ca6b178_3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c3ca6b178_3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c3da2b65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c3da2b65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c3ca6b178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c3ca6b178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c3ca6b178_3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c3ca6b178_3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3ca6b178_3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c3ca6b178_3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c3ca6b178_3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c3ca6b178_3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c3ca6b178_3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c3ca6b178_3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c3ca6b178_3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c3ca6b178_3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c3da2b65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c3da2b65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c3ca6b178_3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c3ca6b178_3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c3ca6b178_3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c3ca6b178_3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c3ca6b178_3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c3ca6b178_3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c3ca6b178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c3ca6b178_3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c3ca6b178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c3ca6b178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c3ca6b178_3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c3ca6b178_3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c3ca6b178_3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c3ca6b178_3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c3ca6b178_3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c3ca6b178_3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c3ca6b178_3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c3ca6b178_3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c3ca6b178_3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c3ca6b178_3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c3ca6b178_3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c3ca6b178_3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c3ca6b178_3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c3ca6b178_3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c3ca6b178_3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c3ca6b178_3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c3ca6b178_3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c3ca6b178_3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c3da2b65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c3da2b65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c3ca6b178_3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c3ca6b178_3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c3ca6b178_3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c3ca6b178_3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c3da2b65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c3da2b65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c3da2b65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c3da2b65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c3da2b65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c3da2b65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c3da2b65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c3da2b65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c3da2b65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c3da2b65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c3da2b65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c3da2b65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c3ca6b178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c3ca6b178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7200"/>
              <a:buNone/>
              <a:defRPr sz="7200"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" y="2340642"/>
            <a:ext cx="8229600" cy="12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457200" y="411480"/>
            <a:ext cx="8229600" cy="0"/>
          </a:xfrm>
          <a:prstGeom prst="straightConnector1">
            <a:avLst/>
          </a:prstGeom>
          <a:noFill/>
          <a:ln w="571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4;p2"/>
          <p:cNvCxnSpPr/>
          <p:nvPr/>
        </p:nvCxnSpPr>
        <p:spPr>
          <a:xfrm>
            <a:off x="457200" y="3633383"/>
            <a:ext cx="8229600" cy="0"/>
          </a:xfrm>
          <a:prstGeom prst="straightConnector1">
            <a:avLst/>
          </a:prstGeom>
          <a:noFill/>
          <a:ln w="571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None/>
              <a:defRPr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508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None/>
              <a:defRPr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508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None/>
              <a:defRPr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508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457200" y="4317761"/>
            <a:ext cx="8229600" cy="0"/>
          </a:xfrm>
          <a:prstGeom prst="straightConnector1">
            <a:avLst/>
          </a:prstGeom>
          <a:noFill/>
          <a:ln w="508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w="508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None/>
              <a:defRPr sz="3600" b="1"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8" name="Google Shape;8;p1"/>
          <p:cNvCxnSpPr/>
          <p:nvPr/>
        </p:nvCxnSpPr>
        <p:spPr>
          <a:xfrm>
            <a:off x="457200" y="5023260"/>
            <a:ext cx="8229600" cy="0"/>
          </a:xfrm>
          <a:prstGeom prst="straightConnector1">
            <a:avLst/>
          </a:prstGeom>
          <a:noFill/>
          <a:ln w="508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abs.traduc.org/abs-5.0-fr/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Formation Shell 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457200" y="2340642"/>
            <a:ext cx="8229600" cy="12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Bases et avancés</a:t>
            </a:r>
            <a:endParaRPr/>
          </a:p>
        </p:txBody>
      </p:sp>
      <p:sp>
        <p:nvSpPr>
          <p:cNvPr id="44" name="Google Shape;44;p8"/>
          <p:cNvSpPr txBox="1"/>
          <p:nvPr/>
        </p:nvSpPr>
        <p:spPr>
          <a:xfrm>
            <a:off x="5103000" y="4555175"/>
            <a:ext cx="3355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Pascal BERGOGNE, le 10/04/2025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Chapitre 1 : les bases</a:t>
            </a:r>
          </a:p>
          <a:p>
            <a:pPr marL="342900" indent="-342900"/>
            <a:r>
              <a:rPr lang="en" sz="2400" dirty="0"/>
              <a:t>Bases du shell</a:t>
            </a:r>
          </a:p>
          <a:p>
            <a:pPr marL="342900" indent="-342900"/>
            <a:r>
              <a:rPr lang="en" sz="2400" dirty="0"/>
              <a:t>Bases de scripting</a:t>
            </a:r>
          </a:p>
          <a:p>
            <a:pPr marL="342900" indent="-342900"/>
            <a:r>
              <a:rPr lang="fr-FR" sz="2400" dirty="0"/>
              <a:t>M</a:t>
            </a:r>
            <a:r>
              <a:rPr lang="en" sz="2400" dirty="0"/>
              <a:t>émento vi/unix/shell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Chapitre 2 : le shell avancé</a:t>
            </a:r>
          </a:p>
          <a:p>
            <a:pPr indent="-457200"/>
            <a:r>
              <a:rPr lang="en" sz="2400" dirty="0"/>
              <a:t>Bonnes pratiques</a:t>
            </a:r>
          </a:p>
          <a:p>
            <a:pPr indent="-457200"/>
            <a:r>
              <a:rPr lang="fr-FR" sz="2400" dirty="0"/>
              <a:t>s</a:t>
            </a:r>
            <a:r>
              <a:rPr lang="en" sz="2400" dirty="0"/>
              <a:t>ed et awk</a:t>
            </a:r>
          </a:p>
          <a:p>
            <a:pPr indent="-457200"/>
            <a:r>
              <a:rPr lang="fr-FR" sz="2400" dirty="0"/>
              <a:t>M</a:t>
            </a:r>
            <a:r>
              <a:rPr lang="en" sz="2400" dirty="0"/>
              <a:t>emento d’exploitation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Chapitre 1</a:t>
            </a:r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ubTitle" idx="1"/>
          </p:nvPr>
        </p:nvSpPr>
        <p:spPr>
          <a:xfrm>
            <a:off x="457200" y="2340642"/>
            <a:ext cx="8229600" cy="12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bases du shell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Qu’est-ce qu’un shell ?</a:t>
            </a: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Un interpréteur de ligne de commande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Il gère l’historique, la coloration syntaxique, les raccourcis clavier, il est configurable.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C’est du CLI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6000" dirty="0"/>
              <a:t>$ </a:t>
            </a:r>
            <a:r>
              <a:rPr lang="en" sz="3200" dirty="0"/>
              <a:t>( user ) </a:t>
            </a:r>
            <a:r>
              <a:rPr lang="en" sz="3600" dirty="0"/>
              <a:t>et</a:t>
            </a:r>
            <a:r>
              <a:rPr lang="en" sz="6000" dirty="0"/>
              <a:t> # </a:t>
            </a:r>
            <a:r>
              <a:rPr lang="en" sz="3200" dirty="0"/>
              <a:t>( root ) </a:t>
            </a:r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Qu’est-ce qu’un shell ?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2226700" y="1647375"/>
            <a:ext cx="1306200" cy="7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3532908" y="2735158"/>
            <a:ext cx="1306200" cy="7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2273927" y="3822941"/>
            <a:ext cx="1306200" cy="7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4839117" y="3822941"/>
            <a:ext cx="1306200" cy="7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</a:t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 rot="5400000">
            <a:off x="3660828" y="1896780"/>
            <a:ext cx="711900" cy="716100"/>
          </a:xfrm>
          <a:prstGeom prst="bentArrow">
            <a:avLst>
              <a:gd name="adj1" fmla="val 25000"/>
              <a:gd name="adj2" fmla="val 25273"/>
              <a:gd name="adj3" fmla="val 25000"/>
              <a:gd name="adj4" fmla="val 4375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/>
          <p:nvPr/>
        </p:nvSpPr>
        <p:spPr>
          <a:xfrm rot="5400000">
            <a:off x="4909325" y="2987854"/>
            <a:ext cx="711900" cy="716100"/>
          </a:xfrm>
          <a:prstGeom prst="bentArrow">
            <a:avLst>
              <a:gd name="adj1" fmla="val 25000"/>
              <a:gd name="adj2" fmla="val 25273"/>
              <a:gd name="adj3" fmla="val 25000"/>
              <a:gd name="adj4" fmla="val 4375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 rot="-5400000" flipH="1">
            <a:off x="2750800" y="2987854"/>
            <a:ext cx="711900" cy="716100"/>
          </a:xfrm>
          <a:prstGeom prst="bentArrow">
            <a:avLst>
              <a:gd name="adj1" fmla="val 25000"/>
              <a:gd name="adj2" fmla="val 25273"/>
              <a:gd name="adj3" fmla="val 25000"/>
              <a:gd name="adj4" fmla="val 4375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Qu’est-ce qu’un shell ?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Bash (</a:t>
            </a: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Bourne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Again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SHell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 :</a:t>
            </a:r>
            <a:r>
              <a:rPr lang="fr-FR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Le plus couramment utilisé sous Linux.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 (</a:t>
            </a: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Bourne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Shell) :</a:t>
            </a:r>
            <a:r>
              <a:rPr lang="fr-FR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Shell traditionnel.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Ksh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(Korn Shell) :</a:t>
            </a:r>
            <a:r>
              <a:rPr lang="fr-FR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Connu pour ses fonctionnalités avancées.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Csh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(C Shell) :</a:t>
            </a:r>
            <a:r>
              <a:rPr lang="fr-FR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Utilisé principalement pour la programmation en 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Zsh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(Z Shell) :</a:t>
            </a:r>
            <a:r>
              <a:rPr lang="fr-FR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Offre des fonctionnalités interactives avancées.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Fish (</a:t>
            </a: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Friendly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Interactive </a:t>
            </a:r>
            <a:r>
              <a:rPr lang="fr-FR" sz="20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SHell</a:t>
            </a:r>
            <a:r>
              <a:rPr lang="fr-FR" sz="2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 :</a:t>
            </a:r>
            <a:r>
              <a:rPr lang="fr-FR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Connu pour sa convivialité et ses fonctionnalités modernes.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Entrez dans bash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$ bash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Regardez dans votre home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	.bash_rc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	.bash_history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Rappels sur les commandes</a:t>
            </a: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Voir mémo.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Surtout n’ayez pas peur : abusez du man</a:t>
            </a:r>
            <a:endParaRPr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man echo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man grep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man man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RTFM (Read the fucking manual)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Oneline et multiligne</a:t>
            </a:r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Un script peut etre écrit sur une seule ligne de commande.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Lorsque qu’une ligne de commande devient trop longue, c’est qu’il est temps de passer au script.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Pour plus de lisibilité, nous pouvons aller à la ligne avant l’interprétation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voici \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une \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longue \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ligne de \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commande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Voici une longue ligne de commande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Qu’est-ce qu’un script shell ?</a:t>
            </a:r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Un fichier texte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Contenant des instructions/commandes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Exécutable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script shell</a:t>
            </a: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457200" y="11302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$ cat &gt; hw.sh &lt;&lt;EOF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#!/bin/sh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echo "Hello, world"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EOF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$ chmod +x hw.sh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$ ./hw.sh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Hello, world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Focus, les redirections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164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echo "toto" &gt; /tmp/fic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echo "titi" &gt;&gt; /tmp/fic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echo "tutu" 2&gt; /tmp/ficerr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cat &lt; /tmp/fic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cat &lt;&lt;INPUT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Some input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INPUT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cat &gt; /tmp/fic2 2&gt;&amp;1</a:t>
            </a:r>
            <a:endParaRPr sz="2400"/>
          </a:p>
        </p:txBody>
      </p:sp>
      <p:sp>
        <p:nvSpPr>
          <p:cNvPr id="130" name="Google Shape;130;p21"/>
          <p:cNvSpPr/>
          <p:nvPr/>
        </p:nvSpPr>
        <p:spPr>
          <a:xfrm>
            <a:off x="5067800" y="1677600"/>
            <a:ext cx="1008300" cy="588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6076270" y="2582002"/>
            <a:ext cx="1008300" cy="588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5104262" y="3486403"/>
            <a:ext cx="1008300" cy="588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7084740" y="3486403"/>
            <a:ext cx="1008300" cy="588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 rot="5400000">
            <a:off x="6153881" y="1906206"/>
            <a:ext cx="591900" cy="552900"/>
          </a:xfrm>
          <a:prstGeom prst="bentArrow">
            <a:avLst>
              <a:gd name="adj1" fmla="val 25000"/>
              <a:gd name="adj2" fmla="val 25273"/>
              <a:gd name="adj3" fmla="val 25000"/>
              <a:gd name="adj4" fmla="val 4375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1"/>
          <p:cNvSpPr/>
          <p:nvPr/>
        </p:nvSpPr>
        <p:spPr>
          <a:xfrm rot="5400000">
            <a:off x="7117795" y="2813344"/>
            <a:ext cx="591900" cy="552900"/>
          </a:xfrm>
          <a:prstGeom prst="bentArrow">
            <a:avLst>
              <a:gd name="adj1" fmla="val 25000"/>
              <a:gd name="adj2" fmla="val 25273"/>
              <a:gd name="adj3" fmla="val 25000"/>
              <a:gd name="adj4" fmla="val 4375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/>
          <p:nvPr/>
        </p:nvSpPr>
        <p:spPr>
          <a:xfrm rot="-5400000" flipH="1">
            <a:off x="5451315" y="2813344"/>
            <a:ext cx="591900" cy="552900"/>
          </a:xfrm>
          <a:prstGeom prst="bentArrow">
            <a:avLst>
              <a:gd name="adj1" fmla="val 25000"/>
              <a:gd name="adj2" fmla="val 25273"/>
              <a:gd name="adj3" fmla="val 25000"/>
              <a:gd name="adj4" fmla="val 4375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5828150" y="1590225"/>
            <a:ext cx="284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0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7849075" y="3415375"/>
            <a:ext cx="284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5852025" y="3415375"/>
            <a:ext cx="284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script shell - Un fichier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57200" y="11302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</a:t>
            </a:r>
            <a:r>
              <a:rPr lang="en" sz="2400">
                <a:solidFill>
                  <a:schemeClr val="accent5"/>
                </a:solidFill>
              </a:rPr>
              <a:t>cat &gt; hw.sh &lt;&lt;EOF</a:t>
            </a:r>
            <a:endParaRPr sz="24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#!/bin/sh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echo "Hello, world"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</a:rPr>
              <a:t>EOF</a:t>
            </a:r>
            <a:endParaRPr sz="24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chmod +x 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./hw.sh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Hello, world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script shell - </a:t>
            </a:r>
            <a:r>
              <a:rPr lang="en" sz="3000"/>
              <a:t>SHebang</a:t>
            </a:r>
            <a:endParaRPr sz="300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457200" y="11302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cat &gt; hw.sh &lt;&lt;EOF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</a:rPr>
              <a:t>#!/bin/sh</a:t>
            </a:r>
            <a:endParaRPr sz="24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echo "Hello, world"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EOF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chmod +x 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./hw.sh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Hello, world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script shell - Le corps du script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457200" y="11302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cat &gt; hw.sh &lt;&lt;EOF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#!/bin/sh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</a:rPr>
              <a:t>echo "Hello, world"</a:t>
            </a:r>
            <a:endParaRPr sz="24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EOF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chmod +x 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./hw.sh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Hello, world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script shell - Executable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457200" y="11302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cat &gt; hw.sh &lt;&lt;EOF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#!/bin/sh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echo "Hello, world"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EOF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</a:t>
            </a:r>
            <a:r>
              <a:rPr lang="en" sz="2400">
                <a:solidFill>
                  <a:schemeClr val="accent5"/>
                </a:solidFill>
              </a:rPr>
              <a:t>chmod +x hw.sh</a:t>
            </a:r>
            <a:endParaRPr sz="24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$ ./hw.sh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Hello, world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et environnement</a:t>
            </a:r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env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[…variables passées aux sous-programmes…]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$ NEW_VAR="Yes"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$NEW_VAR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Yes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$ env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NEW_VAR n’est pas dans les variables d’environnements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% export NEW_VAR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% env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sur PATH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$ hw.sh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bash: hw.sh: Command not found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$ PATH="$PATH:."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$ hw.sh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Hello, world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$PATH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/bin:/usr/bin:/usr/local/bin:/home/pb0dbabn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which echo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/bin/echo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quoting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echo '$USER'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$USER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echo "$USER"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root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echo "\""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echo "toto\\titi\n"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toto\titi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echo '\"'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\"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Manipulation de variable</a:t>
            </a:r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FILEPATH=/path/to/my/output.lis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$FILEPATH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/path/to/my/output.lis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${FILEPATH%.lis}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/path/to/my/output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${FILEPATH#*/}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path/to/my/output.lis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echo ${FILEPATH##*/}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output.lis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conditions d’execution</a:t>
            </a:r>
            <a:endParaRPr/>
          </a:p>
        </p:txBody>
      </p:sp>
      <p:sp>
        <p:nvSpPr>
          <p:cNvPr id="367" name="Google Shape;367;p5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;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&amp;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&amp;&amp;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||</a:t>
            </a:r>
            <a:endParaRPr/>
          </a:p>
        </p:txBody>
      </p:sp>
      <p:sp>
        <p:nvSpPr>
          <p:cNvPr id="368" name="Google Shape;368;p56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echo “toto” &amp; sleep 10 &amp; echo “titi”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echo “toto” &amp;&amp; sleep 10 &amp;&amp; echo “titi”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echo “toto” ; sleep 10 ; echo “titi”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cd /home/toto || cd /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</a:t>
            </a:r>
            <a:endParaRPr/>
          </a:p>
        </p:txBody>
      </p:sp>
      <p:sp>
        <p:nvSpPr>
          <p:cNvPr id="374" name="Google Shape;374;p5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Pour scripter proprement, il convient d’utiliser la commande exit afin de sortir du script.</a:t>
            </a:r>
            <a:endParaRPr/>
          </a:p>
        </p:txBody>
      </p:sp>
      <p:sp>
        <p:nvSpPr>
          <p:cNvPr id="375" name="Google Shape;375;p57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exit 0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sort du script avec le exit status à 0. Signifie que tout est OK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exit 1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sort du script en indiquant qu’une erreur est survenue.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Checker le code retour avec $?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cd $some_directory || echo "Cannot change directory! Aborting"</a:t>
            </a:r>
            <a:br>
              <a:rPr lang="en" sz="1200"/>
            </a:br>
            <a:r>
              <a:rPr lang="en" sz="1200"/>
              <a:t>rm *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cd $some_directory &amp;&amp; rm *</a:t>
            </a:r>
            <a:br>
              <a:rPr lang="en" sz="1400"/>
            </a:b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sourcing</a:t>
            </a:r>
            <a:endParaRPr/>
          </a:p>
        </p:txBody>
      </p:sp>
      <p:sp>
        <p:nvSpPr>
          <p:cNvPr id="463" name="Google Shape;463;p7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$ cat &gt; /path/to/my/passwords &lt;&lt;_PW_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FTP_USER=“un super pass”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_PW_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$ echo $FTP_USER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$ . /path/to/my/passwords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$ echo $FTP_USER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un super pass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$</a:t>
            </a:r>
            <a:endParaRPr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</a:t>
            </a:r>
            <a:endParaRPr/>
          </a:p>
        </p:txBody>
      </p:sp>
      <p:sp>
        <p:nvSpPr>
          <p:cNvPr id="475" name="Google Shape;475;p7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Recherche des fichiers</a:t>
            </a:r>
            <a:endParaRPr sz="1400" b="1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-name</a:t>
            </a:r>
            <a:r>
              <a:rPr lang="en" sz="1400" dirty="0"/>
              <a:t> recherche sur le nom du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-perm</a:t>
            </a:r>
            <a:r>
              <a:rPr lang="en" sz="1400" dirty="0"/>
              <a:t> recherche sur les droits d'accès du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-links</a:t>
            </a:r>
            <a:r>
              <a:rPr lang="en" sz="1400" dirty="0"/>
              <a:t> recherche sur le nombre de liens du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-user</a:t>
            </a:r>
            <a:r>
              <a:rPr lang="en" sz="1400" dirty="0"/>
              <a:t> recherche sur le propriétaire du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-group</a:t>
            </a:r>
            <a:r>
              <a:rPr lang="en" sz="1400" dirty="0"/>
              <a:t> recherche sur le groupe auquel appartient le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-type</a:t>
            </a:r>
            <a:r>
              <a:rPr lang="en" sz="1400" dirty="0"/>
              <a:t> recherche sur le type (d=répertoire, c=caractère, f=fichier normal),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-size</a:t>
            </a:r>
            <a:r>
              <a:rPr lang="en" sz="1400" dirty="0"/>
              <a:t> recherche sur la taille du fichier en nombre de blocs (1 bloc=512octets),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-atime</a:t>
            </a:r>
            <a:r>
              <a:rPr lang="en" sz="1400" dirty="0"/>
              <a:t> recherche par date de dernier accès en lecture du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-mtime</a:t>
            </a:r>
            <a:r>
              <a:rPr lang="en" sz="1400" dirty="0"/>
              <a:t> recherche par date de dernière modification du fichier,</a:t>
            </a:r>
            <a:endParaRPr sz="14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/>
              <a:t>-ctime </a:t>
            </a:r>
            <a:r>
              <a:rPr lang="en" sz="1400" dirty="0"/>
              <a:t>recherche par date de création du fichier.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Exemples :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find /usr -name " *.c " -mtime -3 -perm 644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find . ! -user pascal -print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grep</a:t>
            </a:r>
            <a:endParaRPr/>
          </a:p>
        </p:txBody>
      </p:sp>
      <p:sp>
        <p:nvSpPr>
          <p:cNvPr id="481" name="Google Shape;481;p7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/>
              <a:t>Recherche dans les fichiers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-v </a:t>
            </a:r>
            <a:r>
              <a:rPr lang="en" sz="1000" dirty="0"/>
              <a:t>affiche les lignes ne contenant pas la chaîne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-c </a:t>
            </a:r>
            <a:r>
              <a:rPr lang="en" sz="1000" dirty="0"/>
              <a:t>compte le nombre de lignes contenant la chaîne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-l</a:t>
            </a:r>
            <a:r>
              <a:rPr lang="en" sz="1000" dirty="0"/>
              <a:t> affiche le nom des fichiers qui contiennent la chaîne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-P</a:t>
            </a:r>
            <a:r>
              <a:rPr lang="en" sz="1000" dirty="0"/>
              <a:t> expression regulières perl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-E</a:t>
            </a:r>
            <a:r>
              <a:rPr lang="en" sz="1000" dirty="0"/>
              <a:t> expression régulières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-o</a:t>
            </a:r>
            <a:r>
              <a:rPr lang="en" sz="1000" dirty="0"/>
              <a:t> affiche uniquement les chaines recherchées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-n</a:t>
            </a:r>
            <a:r>
              <a:rPr lang="en" sz="1000" dirty="0"/>
              <a:t> affiche le numéro de ligne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-i</a:t>
            </a:r>
            <a:r>
              <a:rPr lang="en" sz="1000" dirty="0"/>
              <a:t> ignore la casse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-r</a:t>
            </a:r>
            <a:r>
              <a:rPr lang="en" sz="1000" dirty="0"/>
              <a:t> recherche récursive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--color</a:t>
            </a:r>
            <a:r>
              <a:rPr lang="en" sz="1000" dirty="0"/>
              <a:t> affiche le pattern trouvé en couleur</a:t>
            </a:r>
            <a:endParaRPr sz="1000" dirty="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 dirty="0"/>
              <a:t>-A</a:t>
            </a:r>
            <a:r>
              <a:rPr lang="en" sz="1000" dirty="0"/>
              <a:t> (after) </a:t>
            </a:r>
            <a:r>
              <a:rPr lang="en" sz="1000" b="1" dirty="0"/>
              <a:t>-B</a:t>
            </a:r>
            <a:r>
              <a:rPr lang="en" sz="1000" dirty="0"/>
              <a:t> (before) </a:t>
            </a:r>
            <a:r>
              <a:rPr lang="en" sz="1000" b="1" dirty="0"/>
              <a:t>-C</a:t>
            </a:r>
            <a:r>
              <a:rPr lang="en" sz="1000" dirty="0"/>
              <a:t> (context) contextualisation ( affiche les lignes avant et après )</a:t>
            </a:r>
            <a:endParaRPr sz="1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Les commandes suivantes sont identiques </a:t>
            </a:r>
            <a:endParaRPr sz="1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grep -2 ...</a:t>
            </a:r>
            <a:endParaRPr sz="1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grep -C 2 ...</a:t>
            </a:r>
            <a:endParaRPr sz="1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grep -A 2 -B 2 …</a:t>
            </a:r>
            <a:endParaRPr sz="10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Exemple : </a:t>
            </a:r>
            <a:endParaRPr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grep -A 3 -P '^[A-Z]' fichier</a:t>
            </a:r>
            <a:endParaRPr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hostname -i | egrep '[[:digit:]]{1,3}\.[[:digit:]]{1,3}\.[[:digit:]]{1,3}\.[[:digit:]]{1,3}'</a:t>
            </a:r>
            <a:endParaRPr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tee</a:t>
            </a:r>
            <a:endParaRPr/>
          </a:p>
        </p:txBody>
      </p:sp>
      <p:sp>
        <p:nvSpPr>
          <p:cNvPr id="457" name="Google Shape;457;p7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Afficher sur la sortie standart </a:t>
            </a:r>
            <a:r>
              <a:rPr lang="en" sz="3200" b="1" dirty="0">
                <a:solidFill>
                  <a:schemeClr val="accent1"/>
                </a:solidFill>
              </a:rPr>
              <a:t>et</a:t>
            </a:r>
            <a:r>
              <a:rPr lang="en" dirty="0"/>
              <a:t> vers un fichier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./mon_script.sh | tee -a fichier.log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Expressions régulières</a:t>
            </a:r>
            <a:endParaRPr/>
          </a:p>
        </p:txBody>
      </p:sp>
      <p:sp>
        <p:nvSpPr>
          <p:cNvPr id="487" name="Google Shape;487;p7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Une expression régulière (en anglais Regular Expression ou RE) sert à identifier une chaîne de caractère répondant à un certain critère.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Expressions régulières</a:t>
            </a:r>
            <a:endParaRPr/>
          </a:p>
        </p:txBody>
      </p:sp>
      <p:sp>
        <p:nvSpPr>
          <p:cNvPr id="493" name="Google Shape;493;p7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Le métacaractère .</a:t>
            </a:r>
            <a:endParaRPr sz="12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définit n’importe quel caractère.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Les métacaractères [ ]</a:t>
            </a:r>
            <a:endParaRPr sz="12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définit un ensemble de caractères</a:t>
            </a:r>
            <a:br>
              <a:rPr lang="en" sz="1200"/>
            </a:br>
            <a:r>
              <a:rPr lang="en" sz="1200"/>
              <a:t>[a-z] [1-8] [azerty] [A-G] [0-9A-Z-]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Les métacaractères ^ et $</a:t>
            </a:r>
            <a:endParaRPr sz="12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définissent le début ^ ou la fin d’une ligne $</a:t>
            </a:r>
            <a:br>
              <a:rPr lang="en" sz="1200"/>
            </a:br>
            <a:r>
              <a:rPr lang="en" sz="1200"/>
              <a:t>^ entre [ ] définit la négation : [^ab] = non a et non b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Les métacaractères *, + et {}</a:t>
            </a:r>
            <a:endParaRPr sz="12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définissent les caractères de répétition</a:t>
            </a:r>
            <a:br>
              <a:rPr lang="en" sz="1200"/>
            </a:br>
            <a:r>
              <a:rPr lang="en" sz="1200"/>
              <a:t>	* : de 0 à n</a:t>
            </a:r>
            <a:br>
              <a:rPr lang="en" sz="1200"/>
            </a:br>
            <a:r>
              <a:rPr lang="en" sz="1200"/>
              <a:t>	+ : de 1 à n </a:t>
            </a:r>
            <a:br>
              <a:rPr lang="en" sz="1200"/>
            </a:br>
            <a:r>
              <a:rPr lang="en" sz="1200"/>
              <a:t>	{2,10} : de 2 à 10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94" name="Google Shape;494;p76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Exemples :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[a-zA-Z0-9._%+-]+@[a-zA-Z0-9.-]+\.[a-zA-Z]{2,4}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xml :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&lt;balise&gt;([^&lt;]*)&lt;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il existe également des classes d’expression \s, \d ...</a:t>
            </a:r>
            <a:endParaRPr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Scriptons !</a:t>
            </a:r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Monitorer le système to HTML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Mais avant</a:t>
            </a:r>
          </a:p>
          <a:p>
            <a:pPr indent="-457200"/>
            <a:r>
              <a:rPr lang="en" dirty="0"/>
              <a:t>Check des mementos shell et linux</a:t>
            </a:r>
          </a:p>
          <a:p>
            <a:pPr indent="-457200"/>
            <a:r>
              <a:rPr lang="fr-FR" dirty="0"/>
              <a:t>Présentation vi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le template</a:t>
            </a:r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créer un script “make_page.sh”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scripter afin que la sortie du script génère le html ci-contre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exemple de lancement : $ make_page.sh &gt; ma_page.html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Le template HTML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00" name="Google Shape;200;p31"/>
          <p:cNvSpPr/>
          <p:nvPr/>
        </p:nvSpPr>
        <p:spPr>
          <a:xfrm>
            <a:off x="582500" y="2329525"/>
            <a:ext cx="3844500" cy="2435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&lt;HTML&gt;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&lt;HEAD&gt;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	&lt;TITLE&gt;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	The title of your page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	&lt;/TITLE&gt;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&lt;/HEAD&gt;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&lt;BODY&gt;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	Your page content goes here.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&lt;/BODY&gt;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le template</a:t>
            </a:r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créer un script “make_page.sh”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scripter afin que la sortie du script génère le html ci-contre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exemple de lancement : $ make_page.sh &gt; ma_page.html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Le template HTML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07" name="Google Shape;207;p32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#!/bin/bash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# make_page - A script to produce an HTML file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cat &lt;&lt;- _EOF_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&lt;HTML&gt;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&lt;HEAD&gt;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&lt;TITLE&gt;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The title of your page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&lt;/TITLE&gt;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&lt;/HEAD&gt;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&lt;BODY&gt;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Your page content goes here.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&lt;/BODY&gt;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&lt;/HTML&gt;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_EOF_</a:t>
            </a:r>
            <a:endParaRPr sz="1200"/>
          </a:p>
        </p:txBody>
      </p:sp>
      <p:sp>
        <p:nvSpPr>
          <p:cNvPr id="208" name="Google Shape;208;p32"/>
          <p:cNvSpPr/>
          <p:nvPr/>
        </p:nvSpPr>
        <p:spPr>
          <a:xfrm>
            <a:off x="582500" y="2329525"/>
            <a:ext cx="3844500" cy="2435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&lt;HTML&gt;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&lt;HEAD&gt;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	&lt;TITLE&gt;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	The title of your page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	&lt;/TITLE&gt;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&lt;/HEAD&gt;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&lt;BODY&gt;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	Your page content goes here.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&lt;/BODY&gt;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Variabilisation</a:t>
            </a:r>
            <a:endParaRPr/>
          </a:p>
        </p:txBody>
      </p:sp>
      <p:sp>
        <p:nvSpPr>
          <p:cNvPr id="214" name="Google Shape;214;p3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Variabiliser le titre et ajouter le hostname.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Tips, vous pouvez trouver le hostname dans les variables d’environnement</a:t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Variabilisation</a:t>
            </a:r>
            <a:endParaRPr/>
          </a:p>
        </p:txBody>
      </p:sp>
      <p:sp>
        <p:nvSpPr>
          <p:cNvPr id="220" name="Google Shape;220;p3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Variabiliser le titre et ajouter le hostname.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Tips, vous pouvez trouver le hostname dans les variables d’environnement</a:t>
            </a:r>
            <a:endParaRPr sz="1400"/>
          </a:p>
        </p:txBody>
      </p:sp>
      <p:sp>
        <p:nvSpPr>
          <p:cNvPr id="221" name="Google Shape;221;p3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#!/bin/bash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# make_page - A script to produce an HTML file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title="System Information for"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cat &lt;&lt;- _EOF_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&lt;HTML&gt;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&lt;HEAD&gt;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&lt;TITLE&gt;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	$title $HOSTNAME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&lt;/TITLE&gt;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&lt;/HEAD&gt;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&lt;BODY&gt;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	&lt;H1&gt;$title $HOSTNAME&lt;/H1&gt;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&lt;/BODY&gt;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&lt;/HTML&gt;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_EOF_</a:t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date</a:t>
            </a:r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Ajouter la date de modification.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date</a:t>
            </a:r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Ajouter la date de modification.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34" name="Google Shape;234;p36"/>
          <p:cNvSpPr txBox="1">
            <a:spLocks noGrp="1"/>
          </p:cNvSpPr>
          <p:nvPr>
            <p:ph type="body" idx="2"/>
          </p:nvPr>
        </p:nvSpPr>
        <p:spPr>
          <a:xfrm>
            <a:off x="4692299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#!/bin/bash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# make_page - A script to produce an HTML file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TITLE="System Information for $HOSTNAME"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0000"/>
                </a:solidFill>
              </a:rPr>
              <a:t>RIGHT_NOW=$(date +"%x %r %Z")</a:t>
            </a:r>
            <a:endParaRPr sz="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0000"/>
                </a:solidFill>
              </a:rPr>
              <a:t>TIME_STAMP="Updated on $RIGHT_NOW by $USER"</a:t>
            </a:r>
            <a:endParaRPr sz="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cat &lt;&lt;- _EOF_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&lt;HTML&gt;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&lt;HEAD&gt;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    	&lt;TITLE&gt;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    		$TITLE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    	&lt;/TITLE&gt;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&lt;/HEAD&gt;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&lt;BODY&gt;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	&lt;H1&gt;$TITLE&lt;/H1&gt;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DA0002"/>
                </a:solidFill>
              </a:rPr>
              <a:t>	&lt;P&gt;$TIME_STAMP&lt;/P&gt;</a:t>
            </a:r>
            <a:endParaRPr sz="800">
              <a:solidFill>
                <a:srgbClr val="DA000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&lt;/BODY&gt;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&lt;/HTML&gt;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/>
              <a:t>_EOF_</a:t>
            </a:r>
            <a:endParaRPr sz="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Les fonctions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Ajoutons 4 fonctions 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/>
              <a:t>function system_info</a:t>
            </a:r>
            <a:br>
              <a:rPr lang="en" sz="800"/>
            </a:br>
            <a:r>
              <a:rPr lang="en" sz="800"/>
              <a:t>{</a:t>
            </a:r>
            <a:br>
              <a:rPr lang="en" sz="800"/>
            </a:br>
            <a:r>
              <a:rPr lang="en" sz="800"/>
              <a:t>	echo "&lt;h2&gt;System release info&lt;/h2&gt;"</a:t>
            </a:r>
            <a:br>
              <a:rPr lang="en" sz="800"/>
            </a:br>
            <a:r>
              <a:rPr lang="en" sz="800"/>
              <a:t>	echo "&lt;p&gt;Function not yet implemented&lt;/p&gt;"</a:t>
            </a:r>
            <a:br>
              <a:rPr lang="en" sz="800"/>
            </a:br>
            <a:r>
              <a:rPr lang="en" sz="800"/>
              <a:t>}</a:t>
            </a:r>
            <a:br>
              <a:rPr lang="en" sz="800"/>
            </a:b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/>
              <a:t>function show_uptime</a:t>
            </a:r>
            <a:br>
              <a:rPr lang="en" sz="800"/>
            </a:br>
            <a:r>
              <a:rPr lang="en" sz="800"/>
              <a:t>{</a:t>
            </a:r>
            <a:br>
              <a:rPr lang="en" sz="800"/>
            </a:br>
            <a:r>
              <a:rPr lang="en" sz="800"/>
              <a:t>	# Temporary function stub</a:t>
            </a:r>
            <a:br>
              <a:rPr lang="en" sz="800"/>
            </a:br>
            <a:r>
              <a:rPr lang="en" sz="800"/>
              <a:t>	echo "function show_uptime"</a:t>
            </a:r>
            <a:br>
              <a:rPr lang="en" sz="800"/>
            </a:br>
            <a:r>
              <a:rPr lang="en" sz="800"/>
              <a:t>}</a:t>
            </a:r>
            <a:br>
              <a:rPr lang="en" sz="800"/>
            </a:b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/>
              <a:t>function drive_space</a:t>
            </a:r>
            <a:br>
              <a:rPr lang="en" sz="800"/>
            </a:br>
            <a:r>
              <a:rPr lang="en" sz="800"/>
              <a:t>{</a:t>
            </a:r>
            <a:br>
              <a:rPr lang="en" sz="800"/>
            </a:br>
            <a:r>
              <a:rPr lang="en" sz="800"/>
              <a:t>	# Temporary function stub</a:t>
            </a:r>
            <a:br>
              <a:rPr lang="en" sz="800"/>
            </a:br>
            <a:r>
              <a:rPr lang="en" sz="800"/>
              <a:t>	echo "function drive_space"</a:t>
            </a:r>
            <a:br>
              <a:rPr lang="en" sz="800"/>
            </a:br>
            <a:r>
              <a:rPr lang="en" sz="800"/>
              <a:t>}</a:t>
            </a:r>
            <a:br>
              <a:rPr lang="en" sz="800"/>
            </a:b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/>
              <a:t>function home_space</a:t>
            </a:r>
            <a:br>
              <a:rPr lang="en" sz="800"/>
            </a:br>
            <a:r>
              <a:rPr lang="en" sz="800"/>
              <a:t>{</a:t>
            </a:r>
            <a:br>
              <a:rPr lang="en" sz="800"/>
            </a:br>
            <a:r>
              <a:rPr lang="en" sz="800"/>
              <a:t>	# Temporary function stub</a:t>
            </a:r>
            <a:br>
              <a:rPr lang="en" sz="800"/>
            </a:br>
            <a:r>
              <a:rPr lang="en" sz="800"/>
              <a:t>	echo "function home_space"</a:t>
            </a:r>
            <a:br>
              <a:rPr lang="en" sz="800"/>
            </a:br>
            <a:r>
              <a:rPr lang="en" sz="800"/>
              <a:t>}</a:t>
            </a:r>
            <a:endParaRPr sz="800"/>
          </a:p>
        </p:txBody>
      </p:sp>
      <p:sp>
        <p:nvSpPr>
          <p:cNvPr id="241" name="Google Shape;241;p37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Puis changer le body par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&lt;body&gt;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	&lt;h1&gt;$TITLE&lt;/h1&gt;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	&lt;p&gt;$TIME_STAMP&lt;/p&gt;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	$(system_info)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	$(show_uptime)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	$(drive_space)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	$(home_space)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&lt;/body&gt;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show_uptime</a:t>
            </a:r>
            <a:endParaRPr/>
          </a:p>
        </p:txBody>
      </p:sp>
      <p:sp>
        <p:nvSpPr>
          <p:cNvPr id="247" name="Google Shape;247;p3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Implémenter la fonction show_uptime à l’aide de la commande uptime.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Entourez la sortie de la balise &lt;pre&gt; pour un meilleur formatage.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show_uptime</a:t>
            </a:r>
            <a:endParaRPr/>
          </a:p>
        </p:txBody>
      </p:sp>
      <p:sp>
        <p:nvSpPr>
          <p:cNvPr id="253" name="Google Shape;253;p3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Implémenter la fonction show_uptime à l’aide de la commande uptime.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Entourez la sortie de la balise &lt;pre&gt; pour un meilleur formatage.</a:t>
            </a:r>
            <a:endParaRPr sz="1800"/>
          </a:p>
        </p:txBody>
      </p:sp>
      <p:sp>
        <p:nvSpPr>
          <p:cNvPr id="254" name="Google Shape;254;p39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function show_uptime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{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echo "&lt;h2&gt;System uptime&lt;/h2&gt;"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echo "&lt;pre&gt;"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uptime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echo "&lt;/pre&gt;"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drive_space</a:t>
            </a:r>
            <a:endParaRPr/>
          </a:p>
        </p:txBody>
      </p:sp>
      <p:sp>
        <p:nvSpPr>
          <p:cNvPr id="260" name="Google Shape;260;p4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Implémenter la fonction drive_space à l’aide de la commande df.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Entourez la sortie de la balise &lt;pre&gt; pour un meilleur formatage.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drive_space</a:t>
            </a:r>
            <a:endParaRPr/>
          </a:p>
        </p:txBody>
      </p:sp>
      <p:sp>
        <p:nvSpPr>
          <p:cNvPr id="266" name="Google Shape;266;p4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Implémenter la fonction drive_space à l’aide de la commande df.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Entourez la sortie de la balise &lt;pre&gt; pour un meilleur formatage.</a:t>
            </a:r>
            <a:endParaRPr sz="1800"/>
          </a:p>
        </p:txBody>
      </p:sp>
      <p:sp>
        <p:nvSpPr>
          <p:cNvPr id="267" name="Google Shape;267;p41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function drive_space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{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"&lt;h2&gt;Filesystem space&lt;/h2&gt;"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"&lt;pre&gt;"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df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"&lt;/pre&gt;"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home_space</a:t>
            </a:r>
            <a:endParaRPr/>
          </a:p>
        </p:txBody>
      </p:sp>
      <p:sp>
        <p:nvSpPr>
          <p:cNvPr id="273" name="Google Shape;273;p4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Implémenter la fonction home_space à l’aide de la commande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du -s /home/*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Vous pouvez trier la sortie avec la commande sort.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Entourez la sortie de la balise &lt;pre&gt; pour un meilleur formatage.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home_space</a:t>
            </a:r>
            <a:endParaRPr/>
          </a:p>
        </p:txBody>
      </p:sp>
      <p:sp>
        <p:nvSpPr>
          <p:cNvPr id="279" name="Google Shape;279;p4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Implémenter la fonction home_space à l’aide de la commande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du -s /home/*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Vous pouvez trier la sortie avec la commande sort.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Entourez la sortie de la balise &lt;pre&gt; pour un meilleur formatage.</a:t>
            </a:r>
            <a:endParaRPr sz="1800"/>
          </a:p>
        </p:txBody>
      </p:sp>
      <p:sp>
        <p:nvSpPr>
          <p:cNvPr id="280" name="Google Shape;280;p43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function home_space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{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"&lt;h2&gt;Home directory space by user&lt;/h2&gt;"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"&lt;pre&gt;"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"Bytes Directory"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du -s /home/* | sort -nr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echo "&lt;/pre&gt;"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  	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 et boucles</a:t>
            </a:r>
            <a:endParaRPr/>
          </a:p>
        </p:txBody>
      </p:sp>
      <p:sp>
        <p:nvSpPr>
          <p:cNvPr id="286" name="Google Shape;286;p4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Les opérateur algorythimques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/>
              <a:t>( chaque commande est un programme )</a:t>
            </a:r>
            <a:endParaRPr sz="1600" dirty="0"/>
          </a:p>
        </p:txBody>
      </p:sp>
      <p:sp>
        <p:nvSpPr>
          <p:cNvPr id="287" name="Google Shape;287;p4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exit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while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until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case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break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continue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Conditions, if</a:t>
            </a:r>
            <a:endParaRPr/>
          </a:p>
        </p:txBody>
      </p:sp>
      <p:sp>
        <p:nvSpPr>
          <p:cNvPr id="293" name="Google Shape;293;p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1ère forme</a:t>
            </a:r>
            <a:endParaRPr sz="18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/>
              <a:t>if </a:t>
            </a:r>
            <a:r>
              <a:rPr lang="en" sz="1000">
                <a:solidFill>
                  <a:srgbClr val="FF0000"/>
                </a:solidFill>
              </a:rPr>
              <a:t>condition</a:t>
            </a:r>
            <a:r>
              <a:rPr lang="en" sz="1000"/>
              <a:t> ; </a:t>
            </a:r>
            <a:r>
              <a:rPr lang="en" sz="1000" b="1"/>
              <a:t>then</a:t>
            </a:r>
            <a:br>
              <a:rPr lang="en" sz="1000"/>
            </a:br>
            <a:r>
              <a:rPr lang="en" sz="1000"/>
              <a:t>		commands</a:t>
            </a:r>
            <a:br>
              <a:rPr lang="en" sz="1000"/>
            </a:br>
            <a:r>
              <a:rPr lang="en" sz="1000"/>
              <a:t>	</a:t>
            </a:r>
            <a:r>
              <a:rPr lang="en" sz="1000" b="1"/>
              <a:t>fi</a:t>
            </a:r>
            <a:endParaRPr sz="10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2nd forme</a:t>
            </a:r>
            <a:endParaRPr sz="18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/>
              <a:t>if</a:t>
            </a:r>
            <a:r>
              <a:rPr lang="en" sz="1000"/>
              <a:t> </a:t>
            </a:r>
            <a:r>
              <a:rPr lang="en" sz="1000">
                <a:solidFill>
                  <a:srgbClr val="DA0002"/>
                </a:solidFill>
              </a:rPr>
              <a:t>condition</a:t>
            </a:r>
            <a:r>
              <a:rPr lang="en" sz="1000"/>
              <a:t> ; </a:t>
            </a:r>
            <a:r>
              <a:rPr lang="en" sz="1000" b="1"/>
              <a:t>then</a:t>
            </a:r>
            <a:br>
              <a:rPr lang="en" sz="1000"/>
            </a:br>
            <a:r>
              <a:rPr lang="en" sz="1000"/>
              <a:t>		commands</a:t>
            </a:r>
            <a:br>
              <a:rPr lang="en" sz="1000"/>
            </a:br>
            <a:r>
              <a:rPr lang="en" sz="1000"/>
              <a:t>	</a:t>
            </a:r>
            <a:r>
              <a:rPr lang="en" sz="1000" b="1"/>
              <a:t>else</a:t>
            </a:r>
            <a:br>
              <a:rPr lang="en" sz="1000"/>
            </a:br>
            <a:r>
              <a:rPr lang="en" sz="1000"/>
              <a:t>		commands</a:t>
            </a:r>
            <a:br>
              <a:rPr lang="en" sz="1000"/>
            </a:br>
            <a:r>
              <a:rPr lang="en" sz="1000"/>
              <a:t>	</a:t>
            </a:r>
            <a:r>
              <a:rPr lang="en" sz="1000" b="1"/>
              <a:t>fi</a:t>
            </a:r>
            <a:endParaRPr sz="10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3ème forme</a:t>
            </a:r>
            <a:endParaRPr sz="18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/>
              <a:t>if</a:t>
            </a:r>
            <a:r>
              <a:rPr lang="en" sz="1000"/>
              <a:t> </a:t>
            </a:r>
            <a:r>
              <a:rPr lang="en" sz="1000">
                <a:solidFill>
                  <a:srgbClr val="DA0002"/>
                </a:solidFill>
              </a:rPr>
              <a:t>condition</a:t>
            </a:r>
            <a:r>
              <a:rPr lang="en" sz="1000"/>
              <a:t> ; </a:t>
            </a:r>
            <a:r>
              <a:rPr lang="en" sz="1000" b="1"/>
              <a:t>then</a:t>
            </a:r>
            <a:br>
              <a:rPr lang="en" sz="1000"/>
            </a:br>
            <a:r>
              <a:rPr lang="en" sz="1000"/>
              <a:t>		commands</a:t>
            </a:r>
            <a:br>
              <a:rPr lang="en" sz="1000"/>
            </a:br>
            <a:r>
              <a:rPr lang="en" sz="1000"/>
              <a:t>	</a:t>
            </a:r>
            <a:r>
              <a:rPr lang="en" sz="1000" b="1"/>
              <a:t>elif</a:t>
            </a:r>
            <a:r>
              <a:rPr lang="en" sz="1000"/>
              <a:t> </a:t>
            </a:r>
            <a:r>
              <a:rPr lang="en" sz="1000">
                <a:solidFill>
                  <a:srgbClr val="DA0002"/>
                </a:solidFill>
              </a:rPr>
              <a:t>condition</a:t>
            </a:r>
            <a:r>
              <a:rPr lang="en" sz="1000"/>
              <a:t> ; </a:t>
            </a:r>
            <a:r>
              <a:rPr lang="en" sz="1000" b="1"/>
              <a:t>then</a:t>
            </a:r>
            <a:br>
              <a:rPr lang="en" sz="1000"/>
            </a:br>
            <a:r>
              <a:rPr lang="en" sz="1000"/>
              <a:t>		commands</a:t>
            </a:r>
            <a:br>
              <a:rPr lang="en" sz="1000"/>
            </a:br>
            <a:r>
              <a:rPr lang="en" sz="1000"/>
              <a:t>	</a:t>
            </a:r>
            <a:r>
              <a:rPr lang="en" sz="1000" b="1"/>
              <a:t>fi</a:t>
            </a:r>
            <a:endParaRPr sz="1000" b="1"/>
          </a:p>
        </p:txBody>
      </p:sp>
      <p:sp>
        <p:nvSpPr>
          <p:cNvPr id="294" name="Google Shape;294;p45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Les conditions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1ère forme</a:t>
            </a:r>
            <a:br>
              <a:rPr lang="en" sz="1200"/>
            </a:br>
            <a:r>
              <a:rPr lang="en" sz="1200"/>
              <a:t>	test </a:t>
            </a:r>
            <a:r>
              <a:rPr lang="en" sz="1200">
                <a:solidFill>
                  <a:srgbClr val="DA0002"/>
                </a:solidFill>
              </a:rPr>
              <a:t>expression</a:t>
            </a:r>
            <a:endParaRPr sz="1200">
              <a:solidFill>
                <a:srgbClr val="DA000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2nd forme</a:t>
            </a:r>
            <a:br>
              <a:rPr lang="en" sz="1200"/>
            </a:br>
            <a:r>
              <a:rPr lang="en" sz="1200"/>
              <a:t>	[ </a:t>
            </a:r>
            <a:r>
              <a:rPr lang="en" sz="1200">
                <a:solidFill>
                  <a:srgbClr val="DA0002"/>
                </a:solidFill>
              </a:rPr>
              <a:t>expression</a:t>
            </a:r>
            <a:r>
              <a:rPr lang="en" sz="1200"/>
              <a:t> ]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Plus de détails sur les expression possibles :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DA0002"/>
                </a:solidFill>
              </a:rPr>
              <a:t>$ man test</a:t>
            </a:r>
            <a:endParaRPr sz="600" b="1">
              <a:solidFill>
                <a:srgbClr val="DA000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Exemple</a:t>
            </a:r>
            <a:endParaRPr sz="12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if [ -f .bash_profile ]; then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	echo "You have a .bash_profile. Things are fine."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else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	echo "Yikes! You have no .bash_profile!"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fi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 if</a:t>
            </a:r>
            <a:endParaRPr/>
          </a:p>
        </p:txBody>
      </p:sp>
      <p:sp>
        <p:nvSpPr>
          <p:cNvPr id="300" name="Google Shape;300;p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1930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-e : il existe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-f : c'est un fichier normal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-d : c'est un répertoire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-L : c'est un symlink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-h : c'est un symlink valide (marche pour les dossiers)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-r | -w | -x | -k | -p | -u : lisible | modifiable | exécutable | sticky | suid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-p | -t | -S : tube nommé | file descriptor | socket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-O | -G : il m' appartient | appartient à mon groupe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-s : il n'est pas vide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fichier_1 -ef fichier_2 : vrai si le fichier_1 et fichier_2 sont hard linkés (equal files)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fichier_1 -nt fichier_2 : vrai si le fichier_1 est plus récent (newer than) que le fichier_2 ou si fichier_1 existe et non fichier_2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Tester une chaine [ option chaine ]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-z | -n la chaine est vide / n'est pas vide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= | != les chaines comparées sont identiques | différentes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-v variable : $variable existe et a été assignée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home_space</a:t>
            </a:r>
            <a:endParaRPr/>
          </a:p>
        </p:txBody>
      </p:sp>
      <p:sp>
        <p:nvSpPr>
          <p:cNvPr id="306" name="Google Shape;306;p4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Ajouter une condition limitant l’execution de la fonction home_space à l’utilisateur root.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Utilisez la commande id -u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Le résultat 0 correspond à root.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Tips, si l’utilisateur n’est pas root, vous pouvez générer un messages d’erreur vers la sortie d’erreur.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fonction home_space</a:t>
            </a:r>
            <a:endParaRPr/>
          </a:p>
        </p:txBody>
      </p:sp>
      <p:sp>
        <p:nvSpPr>
          <p:cNvPr id="312" name="Google Shape;312;p4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Ajouter une condition limitant l’execution de la fonction home_space à l’utilisateur root.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Utilisez la commande id -u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Le résultat 0 correspond à root.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Tips, si l’utilisateur n’est pas root, vous pouvez générer un messages d’erreur vers la sortie d’erreur.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3" name="Google Shape;313;p48"/>
          <p:cNvSpPr txBox="1">
            <a:spLocks noGrp="1"/>
          </p:cNvSpPr>
          <p:nvPr>
            <p:ph type="body" idx="2"/>
          </p:nvPr>
        </p:nvSpPr>
        <p:spPr>
          <a:xfrm>
            <a:off x="4607600" y="1200150"/>
            <a:ext cx="44211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function home_space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{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	# Only the superuser can get this information</a:t>
            </a:r>
            <a:endParaRPr sz="10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uid = $(id -u)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	if [ "$uid" = "0" ]; then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echo "&lt;h2&gt;Home directory space by user&lt;/h2&gt;"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echo "&lt;pre&gt;"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echo "Bytes Directory"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    	du -s /home/* | sort -nr</a:t>
            </a:r>
            <a:endParaRPr sz="10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    	echo "&lt;/pre&gt;"</a:t>
            </a:r>
            <a:br>
              <a:rPr lang="en" sz="1000"/>
            </a:br>
            <a:r>
              <a:rPr lang="en" sz="1000"/>
              <a:t>else </a:t>
            </a:r>
            <a:br>
              <a:rPr lang="en" sz="1000"/>
            </a:br>
            <a:r>
              <a:rPr lang="en" sz="1000"/>
              <a:t>	echo "You must be the superuser to run this script" &gt;&amp;2</a:t>
            </a:r>
            <a:br>
              <a:rPr lang="en" sz="1000"/>
            </a:br>
            <a:r>
              <a:rPr lang="en" sz="1000"/>
              <a:t>fi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}   # end of home_space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 tips</a:t>
            </a:r>
            <a:endParaRPr/>
          </a:p>
        </p:txBody>
      </p:sp>
      <p:sp>
        <p:nvSpPr>
          <p:cNvPr id="319" name="Google Shape;319;p4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Toujours entourer les variables testées par des doubles quotes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if [ "$number" = "1" ]; then 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Si la variable est nulle, il n’y aura pas d’erreur. Faites le test en Oneline: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[ "" = "1" ] par rapport à  [ = "1" ]</a:t>
            </a:r>
            <a:endParaRPr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boucles for</a:t>
            </a:r>
            <a:endParaRPr/>
          </a:p>
        </p:txBody>
      </p:sp>
      <p:sp>
        <p:nvSpPr>
          <p:cNvPr id="424" name="Google Shape;424;p6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Syntaxe :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for variable in words; do</a:t>
            </a:r>
            <a:br>
              <a:rPr lang="en" sz="1400"/>
            </a:br>
            <a:r>
              <a:rPr lang="en" sz="1400"/>
              <a:t>	statements</a:t>
            </a:r>
            <a:br>
              <a:rPr lang="en" sz="1400"/>
            </a:br>
            <a:r>
              <a:rPr lang="en" sz="1400"/>
              <a:t>done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En oneline :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for i in *.xml ; do echo $i ; done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25" name="Google Shape;425;p65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Exemples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liste tous les paramètres d’un script ( avec $@ 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#!/bin/bash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for i in $@; do</a:t>
            </a:r>
            <a:br>
              <a:rPr lang="en" sz="1200"/>
            </a:br>
            <a:r>
              <a:rPr lang="en" sz="1200"/>
              <a:t>	echo $i</a:t>
            </a:r>
            <a:br>
              <a:rPr lang="en" sz="1200"/>
            </a:br>
            <a:r>
              <a:rPr lang="en" sz="1200"/>
              <a:t>done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Condition, case</a:t>
            </a:r>
            <a:endParaRPr/>
          </a:p>
        </p:txBody>
      </p:sp>
      <p:sp>
        <p:nvSpPr>
          <p:cNvPr id="325" name="Google Shape;325;p5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Syntaxe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case $word in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	patterns ) statements ;;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esac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26" name="Google Shape;326;p50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Exemple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#!/bin/bash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 sz="1000"/>
            </a:br>
            <a:r>
              <a:rPr lang="en" sz="1000"/>
              <a:t>echo -n "Type a digit or a letter &gt; "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 sz="1000"/>
            </a:br>
            <a:r>
              <a:rPr lang="en" sz="1000"/>
              <a:t>read character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 sz="1000"/>
            </a:br>
            <a:r>
              <a:rPr lang="en" sz="1000"/>
              <a:t>case $character in</a:t>
            </a:r>
            <a:br>
              <a:rPr lang="en" sz="1000"/>
            </a:br>
            <a:r>
              <a:rPr lang="en" sz="1000"/>
              <a:t>       	# Check for letters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[a-z] | [A-Z] ) echo "You typed the letter $character"</a:t>
            </a:r>
            <a:br>
              <a:rPr lang="en" sz="1000"/>
            </a:br>
            <a:r>
              <a:rPr lang="en" sz="1000"/>
              <a:t>        	;;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	# Check for digits</a:t>
            </a:r>
            <a:br>
              <a:rPr lang="en" sz="1000"/>
            </a:br>
            <a:r>
              <a:rPr lang="en" sz="1000"/>
              <a:t>	[0-9] ) 	echo "You typed the digit $character"</a:t>
            </a:r>
            <a:br>
              <a:rPr lang="en" sz="1000"/>
            </a:br>
            <a:r>
              <a:rPr lang="en" sz="1000"/>
              <a:t>        	;;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	# Check for anything else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	* )     	echo "You did not type a letter or a digit"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esac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boucles, while</a:t>
            </a:r>
            <a:endParaRPr/>
          </a:p>
        </p:txBody>
      </p:sp>
      <p:sp>
        <p:nvSpPr>
          <p:cNvPr id="332" name="Google Shape;332;p5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condition 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do commandes 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33" name="Google Shape;333;p51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echo "Tapez le mot de passe :"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read password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while test "$password" != “mon_pass”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do echo "Mot de passe incorrect."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echo "Tapez le mot de passe"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read password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done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echo "Mot de passe correct."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echo "Bienvenue sur les ordinateurs secrets du Pentagone."</a:t>
            </a:r>
            <a:endParaRPr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boucles, until</a:t>
            </a:r>
            <a:endParaRPr/>
          </a:p>
        </p:txBody>
      </p:sp>
      <p:sp>
        <p:nvSpPr>
          <p:cNvPr id="339" name="Google Shape;339;p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until condition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do commandes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echo "Tapez le mot de passe :"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read password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until test $password = mon_pass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do echo "Mot de passe incorrect."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echo "Tapez le mot de passe"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read password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done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echo "Mot de passe correct."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echo "Bienvenue sur les ordinateurs secrets de la NASA."</a:t>
            </a:r>
            <a:endParaRPr sz="1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Saisie au clavier</a:t>
            </a:r>
            <a:endParaRPr/>
          </a:p>
        </p:txBody>
      </p:sp>
      <p:sp>
        <p:nvSpPr>
          <p:cNvPr id="346" name="Google Shape;346;p5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La commande read permet la saisie d’informations par l’utilisateur: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#!/bin/bash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echo -n "Enter some text &gt; "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read text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echo "You entered: $text"</a:t>
            </a:r>
            <a:endParaRPr sz="1400"/>
          </a:p>
        </p:txBody>
      </p:sp>
      <p:sp>
        <p:nvSpPr>
          <p:cNvPr id="347" name="Google Shape;347;p53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read peut se temporiser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#!/bin/bash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echo -n "Hurry up and type something! &gt; "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if read -t 3 response; then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echo "Great, you made it in time!"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else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echo "Sorry, you are too slow!"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fi</a:t>
            </a:r>
            <a:endParaRPr sz="1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Calculs arithmétiques</a:t>
            </a:r>
            <a:endParaRPr/>
          </a:p>
        </p:txBody>
      </p:sp>
      <p:sp>
        <p:nvSpPr>
          <p:cNvPr id="353" name="Google Shape;353;p54"/>
          <p:cNvSpPr txBox="1">
            <a:spLocks noGrp="1"/>
          </p:cNvSpPr>
          <p:nvPr>
            <p:ph type="body" idx="1"/>
          </p:nvPr>
        </p:nvSpPr>
        <p:spPr>
          <a:xfrm>
            <a:off x="42225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echo $(( 2 + 2 ))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Remarque : pas de $ pour les nom de variables.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5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#!/bin/bash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seconds=0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echo -n "Enter number of seconds &gt; "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read seconds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hours=$((seconds / 3600))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seconds=$((seconds % 3600))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minutes=$((seconds / 60))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seconds=$((seconds % 60))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echo "$hours hour(s) $minutes minute(s) $seconds second(s)"</a:t>
            </a:r>
            <a:endParaRPr sz="1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Passage de paramètres</a:t>
            </a:r>
            <a:endParaRPr/>
          </a:p>
        </p:txBody>
      </p:sp>
      <p:sp>
        <p:nvSpPr>
          <p:cNvPr id="360" name="Google Shape;360;p5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$ some_program word1 word2 word3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$0 contient le nom du script ( some_program 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ensuite, les $1..$n contiennent respectivement les paramètre passés.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$1 c’est word1, $2 word2 etc …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$# est le nombre de paramètre.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La commande shift, permet de décaler les paramètre vers la gauche en supprimant le premier.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exemple :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$ some_program toto titi tata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un shift équivaut à $ some_program titi tata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61" name="Google Shape;361;p55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Exemples</a:t>
            </a:r>
            <a:r>
              <a:rPr lang="en" sz="1200"/>
              <a:t>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Vérifier si des paramètres ont été passé :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#!/bin/bash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if [ </a:t>
            </a:r>
            <a:r>
              <a:rPr lang="en" sz="1000">
                <a:solidFill>
                  <a:srgbClr val="DA0002"/>
                </a:solidFill>
              </a:rPr>
              <a:t>$#</a:t>
            </a:r>
            <a:r>
              <a:rPr lang="en" sz="1000"/>
              <a:t> -gt 0 ]; then</a:t>
            </a:r>
            <a:br>
              <a:rPr lang="en" sz="1000"/>
            </a:br>
            <a:r>
              <a:rPr lang="en" sz="1000"/>
              <a:t>	echo "Your command line contains </a:t>
            </a:r>
            <a:r>
              <a:rPr lang="en" sz="1000">
                <a:solidFill>
                  <a:srgbClr val="DA0002"/>
                </a:solidFill>
              </a:rPr>
              <a:t>$#</a:t>
            </a:r>
            <a:r>
              <a:rPr lang="en" sz="1000"/>
              <a:t> arguments"</a:t>
            </a:r>
            <a:br>
              <a:rPr lang="en" sz="1000"/>
            </a:br>
            <a:r>
              <a:rPr lang="en" sz="1000"/>
              <a:t>else</a:t>
            </a:r>
            <a:br>
              <a:rPr lang="en" sz="1000"/>
            </a:br>
            <a:r>
              <a:rPr lang="en" sz="1000"/>
              <a:t>	echo "Your command line contains no arguments"</a:t>
            </a:r>
            <a:br>
              <a:rPr lang="en" sz="1000"/>
            </a:br>
            <a:r>
              <a:rPr lang="en" sz="1000"/>
              <a:t>fi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Lister tous les paramètres :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#!/bin/bash</a:t>
            </a:r>
            <a:br>
              <a:rPr lang="en" sz="1000"/>
            </a:br>
            <a:r>
              <a:rPr lang="en" sz="1000"/>
              <a:t>echo "You start with $# positional parameters”</a:t>
            </a:r>
            <a:br>
              <a:rPr lang="en" sz="1000"/>
            </a:br>
            <a:r>
              <a:rPr lang="en" sz="1000"/>
              <a:t># Loop until all parameters are used up</a:t>
            </a:r>
            <a:br>
              <a:rPr lang="en" sz="1000"/>
            </a:br>
            <a:r>
              <a:rPr lang="en" sz="1000"/>
              <a:t>while [ "$1" != "" ]; do</a:t>
            </a:r>
            <a:br>
              <a:rPr lang="en" sz="1000"/>
            </a:br>
            <a:r>
              <a:rPr lang="en" sz="1000"/>
              <a:t>	echo "Parameter 1 equals $1"</a:t>
            </a:r>
            <a:br>
              <a:rPr lang="en" sz="1000"/>
            </a:br>
            <a:r>
              <a:rPr lang="en" sz="1000"/>
              <a:t>	echo "You now have $# positional parameters"</a:t>
            </a:r>
            <a:br>
              <a:rPr lang="en" sz="1000"/>
            </a:br>
            <a:r>
              <a:rPr lang="en" sz="1000"/>
              <a:t>	# Shift all the parameters down by one</a:t>
            </a:r>
            <a:br>
              <a:rPr lang="en" sz="1000"/>
            </a:br>
            <a:r>
              <a:rPr lang="en" sz="1000"/>
              <a:t>	</a:t>
            </a:r>
            <a:r>
              <a:rPr lang="en" sz="1000">
                <a:solidFill>
                  <a:srgbClr val="DA0002"/>
                </a:solidFill>
              </a:rPr>
              <a:t>shift</a:t>
            </a:r>
            <a:br>
              <a:rPr lang="en" sz="1000"/>
            </a:br>
            <a:r>
              <a:rPr lang="en" sz="1000"/>
              <a:t>done</a:t>
            </a:r>
            <a:endParaRPr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de script</a:t>
            </a:r>
            <a:endParaRPr/>
          </a:p>
        </p:txBody>
      </p:sp>
      <p:sp>
        <p:nvSpPr>
          <p:cNvPr id="387" name="Google Shape;387;p5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Ajouter -x au shebang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#!/bin/bash </a:t>
            </a:r>
            <a:r>
              <a:rPr lang="en" sz="1400">
                <a:solidFill>
                  <a:srgbClr val="DA0002"/>
                </a:solidFill>
              </a:rPr>
              <a:t>-x</a:t>
            </a:r>
            <a:endParaRPr sz="1400">
              <a:solidFill>
                <a:srgbClr val="DA000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number=1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if [ $number = "1" ]; then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echo "Number equals 1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#else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#   echo "Number does not equal 1"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fi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ou bash -x mon_script.sh</a:t>
            </a:r>
            <a:endParaRPr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>
            <a:spLocks noGrp="1"/>
          </p:cNvSpPr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Chapitre 2</a:t>
            </a:r>
            <a:endParaRPr/>
          </a:p>
        </p:txBody>
      </p:sp>
      <p:sp>
        <p:nvSpPr>
          <p:cNvPr id="381" name="Google Shape;381;p58"/>
          <p:cNvSpPr txBox="1">
            <a:spLocks noGrp="1"/>
          </p:cNvSpPr>
          <p:nvPr>
            <p:ph type="subTitle" idx="1"/>
          </p:nvPr>
        </p:nvSpPr>
        <p:spPr>
          <a:xfrm>
            <a:off x="457200" y="2340642"/>
            <a:ext cx="8229600" cy="12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shell avancé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Bonne pratique, params et usage</a:t>
            </a:r>
            <a:endParaRPr/>
          </a:p>
        </p:txBody>
      </p:sp>
      <p:sp>
        <p:nvSpPr>
          <p:cNvPr id="393" name="Google Shape;393;p6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Une bonne pratique lorsque l’on ajoute la gestion des paramètres à un script et d’intégrer les usages.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Bonne pratique, params et usage</a:t>
            </a:r>
            <a:endParaRPr/>
          </a:p>
        </p:txBody>
      </p:sp>
      <p:sp>
        <p:nvSpPr>
          <p:cNvPr id="399" name="Google Shape;399;p6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La gestion de paramètres peut se faire avec un case.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Exercice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Créer un script gérant les paramètres suivants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-help, --interactive, --file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et leurs raccourcis -h -i -f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La fonction --help renvoi vers les usages.</a:t>
            </a:r>
            <a:endParaRPr sz="1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Bonne pratique, params et usage</a:t>
            </a:r>
            <a:endParaRPr/>
          </a:p>
        </p:txBody>
      </p:sp>
      <p:sp>
        <p:nvSpPr>
          <p:cNvPr id="405" name="Google Shape;405;p6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La gestion de paramètres peut se faire avec un case.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Exercice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Créer un script gérant les paramètres suivants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-help, --interactive, --file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et leurs raccourcis -h -i -f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La fonction --help renvoi vers les usages.</a:t>
            </a:r>
            <a:endParaRPr sz="1800"/>
          </a:p>
        </p:txBody>
      </p:sp>
      <p:sp>
        <p:nvSpPr>
          <p:cNvPr id="406" name="Google Shape;406;p62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/>
              <a:t>interactive=</a:t>
            </a:r>
            <a:endParaRPr sz="1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/>
              <a:t>filename=~/system_page.html</a:t>
            </a:r>
            <a:endParaRPr sz="1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dirty="0"/>
              <a:t>while [ "$1" != "" ]; do</a:t>
            </a:r>
            <a:br>
              <a:rPr lang="en" sz="1000" dirty="0"/>
            </a:br>
            <a:r>
              <a:rPr lang="en" sz="1000" dirty="0"/>
              <a:t>	case $1 in</a:t>
            </a:r>
            <a:br>
              <a:rPr lang="en" sz="1000" dirty="0"/>
            </a:br>
            <a:r>
              <a:rPr lang="en" sz="1000" dirty="0"/>
              <a:t>    	-f | --file )       	shift</a:t>
            </a:r>
            <a:br>
              <a:rPr lang="en" sz="1000" dirty="0"/>
            </a:br>
            <a:r>
              <a:rPr lang="en" sz="1000" dirty="0"/>
              <a:t>                            	filename=$1</a:t>
            </a:r>
            <a:br>
              <a:rPr lang="en" sz="1000" dirty="0"/>
            </a:br>
            <a:r>
              <a:rPr lang="en" sz="1000" dirty="0"/>
              <a:t>                            	;;</a:t>
            </a:r>
            <a:br>
              <a:rPr lang="en" sz="1000" dirty="0"/>
            </a:br>
            <a:r>
              <a:rPr lang="en" sz="1000" dirty="0"/>
              <a:t>    	-i | --interactive )	interactive=1</a:t>
            </a:r>
            <a:br>
              <a:rPr lang="en" sz="1000" dirty="0"/>
            </a:br>
            <a:r>
              <a:rPr lang="en" sz="1000" dirty="0"/>
              <a:t>                            	;;</a:t>
            </a:r>
            <a:br>
              <a:rPr lang="en" sz="1000" dirty="0"/>
            </a:br>
            <a:r>
              <a:rPr lang="en" sz="1000" dirty="0"/>
              <a:t>    	-h | --help )       	usage</a:t>
            </a:r>
            <a:br>
              <a:rPr lang="en" sz="1000" dirty="0"/>
            </a:br>
            <a:r>
              <a:rPr lang="en" sz="1000" dirty="0"/>
              <a:t>                            	exit</a:t>
            </a:r>
            <a:br>
              <a:rPr lang="en" sz="1000" dirty="0"/>
            </a:br>
            <a:r>
              <a:rPr lang="en" sz="1000" dirty="0"/>
              <a:t>                            	;;</a:t>
            </a:r>
            <a:br>
              <a:rPr lang="en" sz="1000" dirty="0"/>
            </a:br>
            <a:r>
              <a:rPr lang="en" sz="1000" dirty="0"/>
              <a:t>    	* )                 	usage</a:t>
            </a:r>
            <a:br>
              <a:rPr lang="en" sz="1000" dirty="0"/>
            </a:br>
            <a:r>
              <a:rPr lang="en" sz="1000" dirty="0"/>
              <a:t>                            	exit 1</a:t>
            </a:r>
            <a:br>
              <a:rPr lang="en" sz="1000" dirty="0"/>
            </a:br>
            <a:r>
              <a:rPr lang="en" sz="1000" dirty="0"/>
              <a:t>	esac</a:t>
            </a:r>
            <a:br>
              <a:rPr lang="en" sz="1000" dirty="0"/>
            </a:br>
            <a:r>
              <a:rPr lang="en" sz="1000" dirty="0"/>
              <a:t>	shift</a:t>
            </a:r>
            <a:br>
              <a:rPr lang="en" sz="1000" dirty="0"/>
            </a:br>
            <a:r>
              <a:rPr lang="en" sz="1000" dirty="0"/>
              <a:t>done</a:t>
            </a:r>
            <a:endParaRPr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Bonne pratique, params et usage</a:t>
            </a:r>
            <a:endParaRPr/>
          </a:p>
        </p:txBody>
      </p:sp>
      <p:sp>
        <p:nvSpPr>
          <p:cNvPr id="412" name="Google Shape;412;p6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La fonction usage doit etre simple est claire, c’est l’aide de l’utilisateur 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function usage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{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	echo "usage: mon_script [[[-f file ] [-i]] | [-h]]"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}</a:t>
            </a:r>
            <a:endParaRPr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intégrer les params </a:t>
            </a:r>
            <a:endParaRPr/>
          </a:p>
        </p:txBody>
      </p:sp>
      <p:sp>
        <p:nvSpPr>
          <p:cNvPr id="418" name="Google Shape;418;p6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Pensez à une amélioration du script make_page puis,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intégrer la gestion des paramètres et les usages.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Le paramètre interactive active la demande d’un fichier de sortie et sa réécriture s’il existe. 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(Voir script hors ppt ) </a:t>
            </a:r>
            <a:endParaRPr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ajout des for</a:t>
            </a:r>
            <a:endParaRPr/>
          </a:p>
        </p:txBody>
      </p:sp>
      <p:sp>
        <p:nvSpPr>
          <p:cNvPr id="431" name="Google Shape;431;p6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Certaines de nos fonction du make_page peuvent etre “pimpées”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ici, la fonction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home_space</a:t>
            </a:r>
            <a:endParaRPr/>
          </a:p>
        </p:txBody>
      </p:sp>
      <p:sp>
        <p:nvSpPr>
          <p:cNvPr id="432" name="Google Shape;432;p66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function home_space</a:t>
            </a: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{</a:t>
            </a:r>
            <a:endParaRPr sz="10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echo "&lt;h2&gt;Home directory space by user&lt;/h2&gt;"</a:t>
            </a:r>
            <a:br>
              <a:rPr lang="en" sz="1000"/>
            </a:br>
            <a:r>
              <a:rPr lang="en" sz="1000"/>
              <a:t>	echo "&lt;pre&gt;"</a:t>
            </a:r>
            <a:br>
              <a:rPr lang="en" sz="1000"/>
            </a:br>
            <a:r>
              <a:rPr lang="en" sz="1000"/>
              <a:t>	format="%8s%10s%10s   %-s\n"</a:t>
            </a:r>
            <a:br>
              <a:rPr lang="en" sz="1000"/>
            </a:br>
            <a:r>
              <a:rPr lang="en" sz="1000"/>
              <a:t>	"$format"printf  "Dirs" "Files" "Blocks" "Directory"</a:t>
            </a:r>
            <a:br>
              <a:rPr lang="en" sz="1000"/>
            </a:br>
            <a:r>
              <a:rPr lang="en" sz="1000"/>
              <a:t>	printf "$format" "----" "-----" "------" "---------"</a:t>
            </a:r>
            <a:br>
              <a:rPr lang="en" sz="1000"/>
            </a:br>
            <a:r>
              <a:rPr lang="en" sz="1000"/>
              <a:t>	if [ $(id -u) = "0" ]; then</a:t>
            </a:r>
            <a:br>
              <a:rPr lang="en" sz="1000"/>
            </a:br>
            <a:r>
              <a:rPr lang="en" sz="1000"/>
              <a:t>    		dir_list="/home/*"</a:t>
            </a:r>
            <a:br>
              <a:rPr lang="en" sz="1000"/>
            </a:br>
            <a:r>
              <a:rPr lang="en" sz="1000"/>
              <a:t>	else</a:t>
            </a:r>
            <a:br>
              <a:rPr lang="en" sz="1000"/>
            </a:br>
            <a:r>
              <a:rPr lang="en" sz="1000"/>
              <a:t>    		dir_list=$HOME</a:t>
            </a:r>
            <a:br>
              <a:rPr lang="en" sz="1000"/>
            </a:br>
            <a:r>
              <a:rPr lang="en" sz="1000"/>
              <a:t>	fi</a:t>
            </a:r>
            <a:br>
              <a:rPr lang="en" sz="1000"/>
            </a:br>
            <a:r>
              <a:rPr lang="en" sz="1000"/>
              <a:t>	for home_dir in $dir_list; do</a:t>
            </a:r>
            <a:br>
              <a:rPr lang="en" sz="1000"/>
            </a:br>
            <a:r>
              <a:rPr lang="en" sz="1000"/>
              <a:t>    		total_dirs=$(find $home_dir -type d | wc -l)</a:t>
            </a:r>
            <a:br>
              <a:rPr lang="en" sz="1000"/>
            </a:br>
            <a:r>
              <a:rPr lang="en" sz="1000"/>
              <a:t>    		total_files=$(find $home_dir -type f | wc -l)</a:t>
            </a:r>
            <a:br>
              <a:rPr lang="en" sz="1000"/>
            </a:br>
            <a:r>
              <a:rPr lang="en" sz="1000"/>
              <a:t>    		total_blocks=$(du -s $home_dir)</a:t>
            </a:r>
            <a:br>
              <a:rPr lang="en" sz="1000"/>
            </a:br>
            <a:r>
              <a:rPr lang="en" sz="1000"/>
              <a:t>    		printf "$format" $total_dirs $total_files $total_blocks</a:t>
            </a:r>
            <a:br>
              <a:rPr lang="en" sz="1000"/>
            </a:br>
            <a:r>
              <a:rPr lang="en" sz="1000"/>
              <a:t>	done</a:t>
            </a:r>
            <a:br>
              <a:rPr lang="en" sz="1000"/>
            </a:br>
            <a:r>
              <a:rPr lang="en" sz="1000"/>
              <a:t>	echo "&lt;/pre&gt;"</a:t>
            </a:r>
            <a:br>
              <a:rPr lang="en" sz="1000"/>
            </a:br>
            <a:r>
              <a:rPr lang="en" sz="1000"/>
              <a:t>}   # end of home_space</a:t>
            </a:r>
            <a:endParaRPr sz="1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Scripting, ajout des for</a:t>
            </a:r>
            <a:endParaRPr/>
          </a:p>
        </p:txBody>
      </p:sp>
      <p:sp>
        <p:nvSpPr>
          <p:cNvPr id="438" name="Google Shape;438;p6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Ici la fonction system_info</a:t>
            </a:r>
            <a:endParaRPr/>
          </a:p>
        </p:txBody>
      </p:sp>
      <p:sp>
        <p:nvSpPr>
          <p:cNvPr id="439" name="Google Shape;439;p67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function system_info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{</a:t>
            </a:r>
            <a:br>
              <a:rPr lang="en" sz="1200"/>
            </a:br>
            <a:r>
              <a:rPr lang="en" sz="1200"/>
              <a:t>	# Find any release files in /etc</a:t>
            </a:r>
            <a:br>
              <a:rPr lang="en" sz="1200"/>
            </a:br>
            <a:r>
              <a:rPr lang="en" sz="1200"/>
              <a:t>	if ls /etc/*release 1&gt;/dev/null 2&gt;&amp;1; then</a:t>
            </a:r>
            <a:br>
              <a:rPr lang="en" sz="1200"/>
            </a:br>
            <a:r>
              <a:rPr lang="en" sz="1200"/>
              <a:t>		echo "&lt;h2&gt;System release info&lt;/h2&gt;”</a:t>
            </a:r>
            <a:br>
              <a:rPr lang="en" sz="1200"/>
            </a:br>
            <a:r>
              <a:rPr lang="en" sz="1200"/>
              <a:t>		echo "&lt;pre&gt;"</a:t>
            </a:r>
            <a:br>
              <a:rPr lang="en" sz="1200"/>
            </a:br>
            <a:r>
              <a:rPr lang="en" sz="1200"/>
              <a:t>		for i in /etc/*release; do</a:t>
            </a:r>
            <a:br>
              <a:rPr lang="en" sz="1200"/>
            </a:br>
            <a:r>
              <a:rPr lang="en" sz="1200"/>
              <a:t>			# Since we can't be sure of the</a:t>
            </a:r>
            <a:br>
              <a:rPr lang="en" sz="1200"/>
            </a:br>
            <a:r>
              <a:rPr lang="en" sz="1200"/>
              <a:t>			# length of the file, only        	</a:t>
            </a:r>
            <a:br>
              <a:rPr lang="en" sz="1200"/>
            </a:br>
            <a:r>
              <a:rPr lang="en" sz="1200"/>
              <a:t>			# display the first line.</a:t>
            </a:r>
            <a:br>
              <a:rPr lang="en" sz="1200"/>
            </a:br>
            <a:r>
              <a:rPr lang="en" sz="1200"/>
              <a:t>			head -n 1 $i</a:t>
            </a:r>
            <a:br>
              <a:rPr lang="en" sz="1200"/>
            </a:br>
            <a:r>
              <a:rPr lang="en" sz="1200"/>
              <a:t>		done</a:t>
            </a:r>
            <a:br>
              <a:rPr lang="en" sz="1200"/>
            </a:br>
            <a:r>
              <a:rPr lang="en" sz="1200"/>
              <a:t>		uname -orp</a:t>
            </a:r>
            <a:br>
              <a:rPr lang="en" sz="1200"/>
            </a:br>
            <a:r>
              <a:rPr lang="en" sz="1200"/>
              <a:t>		echo "&lt;/pre&gt;"</a:t>
            </a:r>
            <a:br>
              <a:rPr lang="en" sz="1200"/>
            </a:br>
            <a:r>
              <a:rPr lang="en" sz="1200"/>
              <a:t>	fi</a:t>
            </a:r>
            <a:br>
              <a:rPr lang="en" sz="1200"/>
            </a:br>
            <a:r>
              <a:rPr lang="en" sz="1200"/>
              <a:t>}   # end of system_info</a:t>
            </a:r>
            <a:endParaRPr sz="12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Scripter un menu</a:t>
            </a:r>
            <a:endParaRPr/>
          </a:p>
        </p:txBody>
      </p:sp>
      <p:sp>
        <p:nvSpPr>
          <p:cNvPr id="451" name="Google Shape;451;p6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#!/bin/bash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function press_enter</a:t>
            </a:r>
            <a:br>
              <a:rPr lang="en" sz="800"/>
            </a:br>
            <a:r>
              <a:rPr lang="en" sz="800"/>
              <a:t>{</a:t>
            </a:r>
            <a:br>
              <a:rPr lang="en" sz="800"/>
            </a:br>
            <a:r>
              <a:rPr lang="en" sz="800"/>
              <a:t>	echo ""</a:t>
            </a:r>
            <a:br>
              <a:rPr lang="en" sz="800"/>
            </a:br>
            <a:r>
              <a:rPr lang="en" sz="800"/>
              <a:t>	echo -n "Press Enter to continue"</a:t>
            </a:r>
            <a:br>
              <a:rPr lang="en" sz="800"/>
            </a:br>
            <a:r>
              <a:rPr lang="en" sz="800"/>
              <a:t>	read</a:t>
            </a:r>
            <a:br>
              <a:rPr lang="en" sz="800"/>
            </a:br>
            <a:r>
              <a:rPr lang="en" sz="800"/>
              <a:t>	clear</a:t>
            </a:r>
            <a:br>
              <a:rPr lang="en" sz="800"/>
            </a:br>
            <a:r>
              <a:rPr lang="en" sz="800"/>
              <a:t>}</a:t>
            </a:r>
            <a:endParaRPr sz="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/>
              <a:t>selection=</a:t>
            </a:r>
            <a:br>
              <a:rPr lang="en" sz="800"/>
            </a:br>
            <a:r>
              <a:rPr lang="en" sz="800"/>
              <a:t>until [ "$selection" = "0" ]; do</a:t>
            </a:r>
            <a:br>
              <a:rPr lang="en" sz="800"/>
            </a:br>
            <a:r>
              <a:rPr lang="en" sz="800"/>
              <a:t>	echo ""</a:t>
            </a:r>
            <a:br>
              <a:rPr lang="en" sz="800"/>
            </a:br>
            <a:r>
              <a:rPr lang="en" sz="800"/>
              <a:t>	echo "PROGRAM MENU"</a:t>
            </a:r>
            <a:br>
              <a:rPr lang="en" sz="800"/>
            </a:br>
            <a:r>
              <a:rPr lang="en" sz="800"/>
              <a:t>	echo "1 - display free disk space"</a:t>
            </a:r>
            <a:br>
              <a:rPr lang="en" sz="800"/>
            </a:br>
            <a:r>
              <a:rPr lang="en" sz="800"/>
              <a:t>	echo "2 - display free memory"</a:t>
            </a:r>
            <a:br>
              <a:rPr lang="en" sz="800"/>
            </a:br>
            <a:r>
              <a:rPr lang="en" sz="800"/>
              <a:t>	echo ""</a:t>
            </a:r>
            <a:br>
              <a:rPr lang="en" sz="800"/>
            </a:br>
            <a:r>
              <a:rPr lang="en" sz="800"/>
              <a:t>	echo "0 - exit program"</a:t>
            </a:r>
            <a:br>
              <a:rPr lang="en" sz="800"/>
            </a:br>
            <a:r>
              <a:rPr lang="en" sz="800"/>
              <a:t>	echo ""</a:t>
            </a:r>
            <a:br>
              <a:rPr lang="en" sz="800"/>
            </a:br>
            <a:r>
              <a:rPr lang="en" sz="800"/>
              <a:t>	echo -n "Enter selection: "</a:t>
            </a:r>
            <a:br>
              <a:rPr lang="en" sz="800"/>
            </a:br>
            <a:r>
              <a:rPr lang="en" sz="800"/>
              <a:t>	read selection</a:t>
            </a:r>
            <a:br>
              <a:rPr lang="en" sz="800"/>
            </a:br>
            <a:r>
              <a:rPr lang="en" sz="800"/>
              <a:t>	echo ""</a:t>
            </a:r>
            <a:br>
              <a:rPr lang="en" sz="800"/>
            </a:br>
            <a:r>
              <a:rPr lang="en" sz="800"/>
              <a:t>	case $selection in</a:t>
            </a:r>
            <a:br>
              <a:rPr lang="en" sz="800"/>
            </a:br>
            <a:r>
              <a:rPr lang="en" sz="800"/>
              <a:t>  	1 ) df ; press_enter ;;</a:t>
            </a:r>
            <a:br>
              <a:rPr lang="en" sz="800"/>
            </a:br>
            <a:r>
              <a:rPr lang="en" sz="800"/>
              <a:t> 	2 ) free ; press_enter ;;</a:t>
            </a:r>
            <a:br>
              <a:rPr lang="en" sz="800"/>
            </a:br>
            <a:r>
              <a:rPr lang="en" sz="800"/>
              <a:t>  	0 ) exit ;;</a:t>
            </a:r>
            <a:br>
              <a:rPr lang="en" sz="800"/>
            </a:br>
            <a:r>
              <a:rPr lang="en" sz="800"/>
              <a:t>	* ) echo "Please enter 1, 2, or 0"; press_enter</a:t>
            </a:r>
            <a:br>
              <a:rPr lang="en" sz="800"/>
            </a:br>
            <a:r>
              <a:rPr lang="en" sz="800"/>
              <a:t>	esac</a:t>
            </a:r>
            <a:br>
              <a:rPr lang="en" sz="800"/>
            </a:br>
            <a:r>
              <a:rPr lang="en" sz="800"/>
              <a:t>done</a:t>
            </a:r>
            <a:endParaRPr sz="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8"/>
          <p:cNvSpPr txBox="1">
            <a:spLocks noGrp="1"/>
          </p:cNvSpPr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445" name="Google Shape;445;p68"/>
          <p:cNvSpPr txBox="1">
            <a:spLocks noGrp="1"/>
          </p:cNvSpPr>
          <p:nvPr>
            <p:ph type="subTitle" idx="1"/>
          </p:nvPr>
        </p:nvSpPr>
        <p:spPr>
          <a:xfrm>
            <a:off x="457200" y="2340642"/>
            <a:ext cx="8229600" cy="12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sed : Stream EDitor</a:t>
            </a:r>
            <a:endParaRPr/>
          </a:p>
        </p:txBody>
      </p:sp>
      <p:sp>
        <p:nvSpPr>
          <p:cNvPr id="500" name="Google Shape;500;p7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Editeur de texte non-interactif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 texte en entrée est modifié puis affiché sur la sortie standard. 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sed</a:t>
            </a:r>
            <a:endParaRPr/>
          </a:p>
        </p:txBody>
      </p:sp>
      <p:sp>
        <p:nvSpPr>
          <p:cNvPr id="506" name="Google Shape;506;p7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Exemples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substitution :  sed -e 's/regex/replacement/'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suppression des 10 premières lignes : sed -e '1,10d'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suppression des commentaires : sed -e '/^#/d'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equivalent à grep -o : sed -n -e '/regexp/p'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/>
              <a:t>convert Unix to DOS: sed -e 's/$/\r/' myunix.txt &gt; mydos.txt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/>
              <a:t>sed -e … -e … -e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sed -f file.sed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-e = execute, affiche sur la sortie standard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-</a:t>
            </a:r>
            <a:r>
              <a:rPr lang="fr-FR" sz="1600" dirty="0"/>
              <a:t>i = applique les modifications dans le fichier d’entrée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awk</a:t>
            </a:r>
            <a:endParaRPr/>
          </a:p>
        </p:txBody>
      </p:sp>
      <p:sp>
        <p:nvSpPr>
          <p:cNvPr id="512" name="Google Shape;512;p7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Un langage de programmation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Syntaxte 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awk '/pattern/' file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awk '{action}' file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awk '/pattern/ {action;}' file</a:t>
            </a:r>
            <a:endParaRPr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cat file | awk '{action}'</a:t>
            </a:r>
            <a:endParaRPr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awk</a:t>
            </a:r>
            <a:endParaRPr/>
          </a:p>
        </p:txBody>
      </p:sp>
      <p:sp>
        <p:nvSpPr>
          <p:cNvPr id="518" name="Google Shape;518;p8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Awk fournit des instructions logiques au dela des delete/print/substract de sed.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Il peut gérer des variables,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il a des structures de controle ( if; for; while … )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awk '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  BEGIN { actions ; 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  /pattern/ { actions ; 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  /pattern/ { actions ; 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  END { actions ;}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' files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awk lit ligne par ligne le fichier, et applique les actions correspondantes aux patterns matchés.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l’action de BEGIN est effectuée avant la lecture du fichier et END à la fin.</a:t>
            </a:r>
            <a:endParaRPr sz="12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awk, variables interne</a:t>
            </a:r>
            <a:endParaRPr/>
          </a:p>
        </p:txBody>
      </p:sp>
      <p:sp>
        <p:nvSpPr>
          <p:cNvPr id="524" name="Google Shape;524;p8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awk a des RECORDS (ligne) et des FIELDS ( mots 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FS, input Field Separator (default=space/tab)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OFS, Output Field Separator (default=space)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ORS, Output Record Separator (default=newline)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RS, input Record Separator (default=newline)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NR, number of the current record being processed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NF, number of fields within current record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FILENAME, le nom du fichier en cours de traitement</a:t>
            </a:r>
            <a:endParaRPr sz="1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awk, exemples</a:t>
            </a:r>
            <a:endParaRPr/>
          </a:p>
        </p:txBody>
      </p:sp>
      <p:sp>
        <p:nvSpPr>
          <p:cNvPr id="530" name="Google Shape;530;p8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awk ‘BEGIN { FS=“:” ; } { print $1, $6 ; }’ /etc/passwd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$sep=’:’ &amp;&amp; awk –F$sep ‘ { print $1, $6 ; }’ /etc/passwd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awk, exemples</a:t>
            </a:r>
            <a:endParaRPr/>
          </a:p>
        </p:txBody>
      </p:sp>
      <p:sp>
        <p:nvSpPr>
          <p:cNvPr id="536" name="Google Shape;536;p8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/>
              <a:t>Faire la moyenne des notes d’élèves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/>
              <a:t>En entrée nous avons le fichier suivant :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$ cat scores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Fred 90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Sue 100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Fred 85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Sam 70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Sue 98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Sam 50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/>
              <a:t>Fred 70</a:t>
            </a:r>
            <a:endParaRPr sz="1200" dirty="0"/>
          </a:p>
        </p:txBody>
      </p:sp>
      <p:sp>
        <p:nvSpPr>
          <p:cNvPr id="537" name="Google Shape;537;p83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Le code awk :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$ cat total.awk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{ Total[$1] += $2}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END {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  for (i in Total)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 	 print i, Total[i];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Le résultat :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$ awk -f total.awk scores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Sue 198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Sam 120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Fred 245</a:t>
            </a:r>
            <a:endParaRPr sz="1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|</a:t>
            </a:r>
            <a:endParaRPr/>
          </a:p>
        </p:txBody>
      </p:sp>
      <p:sp>
        <p:nvSpPr>
          <p:cNvPr id="543" name="Google Shape;543;p8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800" dirty="0"/>
              <a:t>Les pipeline </a:t>
            </a:r>
            <a:r>
              <a:rPr lang="fr-FR" sz="2800" dirty="0" err="1"/>
              <a:t>shell</a:t>
            </a:r>
            <a:r>
              <a:rPr lang="fr-FR" sz="2800" dirty="0"/>
              <a:t>, permet de brancher </a:t>
            </a:r>
            <a:r>
              <a:rPr lang="fr-FR" sz="28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la sortie d’un processus directement en entrée du suivant.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800" b="0" i="0" dirty="0">
                <a:solidFill>
                  <a:srgbClr val="212529"/>
                </a:solidFill>
                <a:effectLst/>
                <a:latin typeface="Open Sans" panose="020F0502020204030204" pitchFamily="34" charset="0"/>
              </a:rPr>
              <a:t>Commande 1 | commande 2 | commande 3 | ……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41D226F-7EB4-F7F9-2E9E-B3C1D5EE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630" y="2627711"/>
            <a:ext cx="4846740" cy="203471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Référence</a:t>
            </a:r>
            <a:endParaRPr/>
          </a:p>
        </p:txBody>
      </p:sp>
      <p:sp>
        <p:nvSpPr>
          <p:cNvPr id="555" name="Google Shape;555;p8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Pour aller plus loin, l’advance bash scripting traduit en français est ici :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>
                <a:hlinkClick r:id="rId3"/>
              </a:rPr>
              <a:t>http://abs.traduc.org/abs-5.0-fr/</a:t>
            </a:r>
            <a:endParaRPr lang="en"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Consultez les mémentos</a:t>
            </a:r>
            <a:endParaRPr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7"/>
          <p:cNvSpPr txBox="1">
            <a:spLocks noGrp="1"/>
          </p:cNvSpPr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5231</Words>
  <Application>Microsoft Office PowerPoint</Application>
  <PresentationFormat>Affichage à l'écran (16:9)</PresentationFormat>
  <Paragraphs>758</Paragraphs>
  <Slides>76</Slides>
  <Notes>76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76</vt:i4>
      </vt:variant>
    </vt:vector>
  </HeadingPairs>
  <TitlesOfParts>
    <vt:vector size="81" baseType="lpstr">
      <vt:lpstr>Arial</vt:lpstr>
      <vt:lpstr>Open Sans</vt:lpstr>
      <vt:lpstr>Roboto</vt:lpstr>
      <vt:lpstr>Segoe UI</vt:lpstr>
      <vt:lpstr>Swiss</vt:lpstr>
      <vt:lpstr>Formation Shell </vt:lpstr>
      <vt:lpstr>Sommaire</vt:lpstr>
      <vt:lpstr>Chapitre 1</vt:lpstr>
      <vt:lpstr>Qu’est-ce qu’un shell ?</vt:lpstr>
      <vt:lpstr>Qu’est-ce qu’un shell ?</vt:lpstr>
      <vt:lpstr>Qu’est-ce qu’un shell ?</vt:lpstr>
      <vt:lpstr>Bash</vt:lpstr>
      <vt:lpstr>Rappels sur les commandes</vt:lpstr>
      <vt:lpstr>Oneline et multiligne</vt:lpstr>
      <vt:lpstr>Qu’est-ce qu’un script shell ?</vt:lpstr>
      <vt:lpstr>Un script shell</vt:lpstr>
      <vt:lpstr>Focus, les redirections</vt:lpstr>
      <vt:lpstr>Un script shell - Un fichier</vt:lpstr>
      <vt:lpstr>Un script shell - SHebang</vt:lpstr>
      <vt:lpstr>Un script shell - Le corps du script</vt:lpstr>
      <vt:lpstr>Un script shell - Executable</vt:lpstr>
      <vt:lpstr>Variables et environnement</vt:lpstr>
      <vt:lpstr>Focus sur PATH</vt:lpstr>
      <vt:lpstr>Le quoting</vt:lpstr>
      <vt:lpstr>Manipulation de variable</vt:lpstr>
      <vt:lpstr>Les conditions d’execution</vt:lpstr>
      <vt:lpstr>Exit</vt:lpstr>
      <vt:lpstr>sourcing</vt:lpstr>
      <vt:lpstr>find</vt:lpstr>
      <vt:lpstr>grep</vt:lpstr>
      <vt:lpstr>tee</vt:lpstr>
      <vt:lpstr>Expressions régulières</vt:lpstr>
      <vt:lpstr>Expressions régulières</vt:lpstr>
      <vt:lpstr>Scriptons !</vt:lpstr>
      <vt:lpstr>Scripting, le template</vt:lpstr>
      <vt:lpstr>Scripting, le template</vt:lpstr>
      <vt:lpstr>Scripting, Variabilisation</vt:lpstr>
      <vt:lpstr>Scripting, Variabilisation</vt:lpstr>
      <vt:lpstr>Scripting, date</vt:lpstr>
      <vt:lpstr>Scripting, date</vt:lpstr>
      <vt:lpstr>Scripting, Les fonctions</vt:lpstr>
      <vt:lpstr>Scripting, fonction show_uptime</vt:lpstr>
      <vt:lpstr>Scripting, fonction show_uptime</vt:lpstr>
      <vt:lpstr>Scripting, fonction drive_space</vt:lpstr>
      <vt:lpstr>Scripting, fonction drive_space</vt:lpstr>
      <vt:lpstr>Scripting, fonction home_space</vt:lpstr>
      <vt:lpstr>Scripting, fonction home_space</vt:lpstr>
      <vt:lpstr>Conditions et boucles</vt:lpstr>
      <vt:lpstr>Conditions, if</vt:lpstr>
      <vt:lpstr>Condition if</vt:lpstr>
      <vt:lpstr>Scripting, fonction home_space</vt:lpstr>
      <vt:lpstr>Scripting, fonction home_space</vt:lpstr>
      <vt:lpstr>Conditions tips</vt:lpstr>
      <vt:lpstr>Les boucles for</vt:lpstr>
      <vt:lpstr>Condition, case</vt:lpstr>
      <vt:lpstr>Les boucles, while</vt:lpstr>
      <vt:lpstr>Les boucles, until</vt:lpstr>
      <vt:lpstr>Saisie au clavier</vt:lpstr>
      <vt:lpstr>Calculs arithmétiques</vt:lpstr>
      <vt:lpstr>Passage de paramètres</vt:lpstr>
      <vt:lpstr>Debug de script</vt:lpstr>
      <vt:lpstr>Chapitre 2</vt:lpstr>
      <vt:lpstr>Bonne pratique, params et usage</vt:lpstr>
      <vt:lpstr>Bonne pratique, params et usage</vt:lpstr>
      <vt:lpstr>Bonne pratique, params et usage</vt:lpstr>
      <vt:lpstr>Bonne pratique, params et usage</vt:lpstr>
      <vt:lpstr>Scripting, intégrer les params </vt:lpstr>
      <vt:lpstr>Scripting, ajout des for</vt:lpstr>
      <vt:lpstr>Scripting, ajout des for</vt:lpstr>
      <vt:lpstr>Scripter un menu</vt:lpstr>
      <vt:lpstr>Tools</vt:lpstr>
      <vt:lpstr>sed : Stream EDitor</vt:lpstr>
      <vt:lpstr>sed</vt:lpstr>
      <vt:lpstr>awk</vt:lpstr>
      <vt:lpstr>awk</vt:lpstr>
      <vt:lpstr>awk, variables interne</vt:lpstr>
      <vt:lpstr>awk, exemples</vt:lpstr>
      <vt:lpstr>awk, exemples</vt:lpstr>
      <vt:lpstr>Pipe |</vt:lpstr>
      <vt:lpstr>Référence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BERGOGNE Pascal - externe</dc:creator>
  <cp:lastModifiedBy>BERGOGNE Pascal - externe</cp:lastModifiedBy>
  <cp:revision>10</cp:revision>
  <dcterms:modified xsi:type="dcterms:W3CDTF">2025-04-18T14:10:36Z</dcterms:modified>
</cp:coreProperties>
</file>